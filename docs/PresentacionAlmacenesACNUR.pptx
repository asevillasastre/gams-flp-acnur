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</p:sldIdLst>
  <p:sldSz cy="5143500" cx="9144000"/>
  <p:notesSz cx="6858000" cy="9144000"/>
  <p:embeddedFontLst>
    <p:embeddedFont>
      <p:font typeface="Roboto"/>
      <p:regular r:id="rId94"/>
      <p:bold r:id="rId95"/>
      <p:italic r:id="rId96"/>
      <p:boldItalic r:id="rId97"/>
    </p:embeddedFont>
    <p:embeddedFont>
      <p:font typeface="Bebas Neue"/>
      <p:regular r:id="rId98"/>
    </p:embeddedFont>
    <p:embeddedFont>
      <p:font typeface="Dela Gothic One"/>
      <p:regular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Roboto-bold.fntdata"/><Relationship Id="rId94" Type="http://schemas.openxmlformats.org/officeDocument/2006/relationships/font" Target="fonts/Roboto-regular.fntdata"/><Relationship Id="rId97" Type="http://schemas.openxmlformats.org/officeDocument/2006/relationships/font" Target="fonts/Roboto-boldItalic.fntdata"/><Relationship Id="rId96" Type="http://schemas.openxmlformats.org/officeDocument/2006/relationships/font" Target="fonts/Roboto-italic.fntdata"/><Relationship Id="rId11" Type="http://schemas.openxmlformats.org/officeDocument/2006/relationships/slide" Target="slides/slide6.xml"/><Relationship Id="rId99" Type="http://schemas.openxmlformats.org/officeDocument/2006/relationships/font" Target="fonts/DelaGothicOne-regular.fntdata"/><Relationship Id="rId10" Type="http://schemas.openxmlformats.org/officeDocument/2006/relationships/slide" Target="slides/slide5.xml"/><Relationship Id="rId98" Type="http://schemas.openxmlformats.org/officeDocument/2006/relationships/font" Target="fonts/BebasNeu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445916164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445916164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4591616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44591616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3753ea65f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3753ea65f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b8abee13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b8abee13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45916164d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445916164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b8abee13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b8abee13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8abee13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b8abee13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b8abee13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b8abee13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b8abee13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b8abee13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b8abee138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b8abee138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b8abee138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4b8abee138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b8abee138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4b8abee138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b8abee138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4b8abee138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b8abee13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4b8abee13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b8abee138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4b8abee138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b8abee13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4b8abee13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4b8abee138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4b8abee138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445916164d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445916164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b8abee138_2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4b8abee138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b8abee138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b8abee138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b8abee138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4b8abee138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4b8abee138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4b8abee138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4b8abee138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4b8abee138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b8abee138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4b8abee138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4b8abee138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4b8abee138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4b8abee138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4b8abee138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4b8abee138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4b8abee138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4b8abee138_2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4b8abee138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4b8abee13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4b8abee13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4b8abee138_2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4b8abee138_2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4b8abee138_2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4b8abee138_2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4b8abee138_2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4b8abee138_2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4b8abee138_2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4b8abee138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4b8abee138_2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4b8abee138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4b8abee138_2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4b8abee138_2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4b8abee138_2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4b8abee138_2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4b8abee138_2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4b8abee138_2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4b8abee138_2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4b8abee138_2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4b8abee138_2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4b8abee138_2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b8abee138_2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b8abee138_2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4b8abee138_2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4b8abee138_2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4b8abee138_2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4b8abee138_2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4b8abee138_2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4b8abee138_2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4b8abee138_2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4b8abee138_2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4b8abee138_2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4b8abee138_2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4b8abee138_2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4b8abee138_2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4b8abee138_2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4b8abee138_2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4b8abee138_2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4b8abee138_2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4b8abee138_2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4b8abee138_2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4b8abee138_2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4b8abee138_2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4b8abee138_2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4b8abee138_2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4b8abee138_2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4b8abee138_2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4b8abee138_2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4b8abee138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4b8abee138_2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4b8abee138_2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4b8abee138_2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4b8abee138_2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4b8abee138_2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4b8abee138_2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4b8abee138_2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4b8abee138_2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4b8abee138_2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4b8abee138_2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4b8abee138_2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4b8abee138_2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4b8abee138_2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4b8abee138_2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4b8abee138_2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4b8abee138_2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4b8abee138_2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4b8abee138_2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4b8abee138_2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4b8abee138_2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4b8abee138_4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4b8abee138_4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4b8abee138_2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4b8abee138_2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4b8abee138_2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4b8abee138_2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4b8abee138_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4b8abee138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4b8abee138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4b8abee138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4b8abee138_2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4b8abee138_2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4b8abee138_2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4b8abee138_2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4b8abee138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4b8abee138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4b8abee138_2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4b8abee138_2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4b8abee138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4b8abee138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445916164d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445916164d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4b8abee138_3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4b8abee138_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4b8abee138_3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4b8abee138_3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4b8abee138_3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4b8abee138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4b8abee138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4b8abee138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4b8abee138_3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4b8abee138_3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4b8abee138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4b8abee13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1445916164d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1445916164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4b8abee138_4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4b8abee138_4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4b8abee138_4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4b8abee138_4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4b8abee138_4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4b8abee138_4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4b8abee138_4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4b8abee138_4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4b8abee138_4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4b8abee138_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1445916164d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1445916164d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1445916164d_1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1445916164d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484200" y="960600"/>
            <a:ext cx="61758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484100" y="3773400"/>
            <a:ext cx="6175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1581150" y="1453000"/>
            <a:ext cx="5981700" cy="102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3947250" y="627800"/>
            <a:ext cx="1249500" cy="91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581150" y="2477200"/>
            <a:ext cx="59817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243525"/>
            <a:ext cx="4680000" cy="33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153513" y="2303125"/>
            <a:ext cx="3182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808388" y="2303125"/>
            <a:ext cx="3182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153513" y="2833525"/>
            <a:ext cx="31821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08388" y="2833525"/>
            <a:ext cx="31821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0000" y="1514525"/>
            <a:ext cx="3533100" cy="27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7"/>
          <p:cNvSpPr/>
          <p:nvPr>
            <p:ph idx="2" type="pic"/>
          </p:nvPr>
        </p:nvSpPr>
        <p:spPr>
          <a:xfrm>
            <a:off x="4567700" y="1514525"/>
            <a:ext cx="3861300" cy="2775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" y="0"/>
            <a:ext cx="9144000" cy="514348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/>
          <p:nvPr>
            <p:ph type="title"/>
          </p:nvPr>
        </p:nvSpPr>
        <p:spPr>
          <a:xfrm>
            <a:off x="720000" y="1572250"/>
            <a:ext cx="5268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720000" y="2553575"/>
            <a:ext cx="52686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720000" y="3691900"/>
            <a:ext cx="5212200" cy="916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2161900" y="1648100"/>
            <a:ext cx="6267000" cy="132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161900" y="3142200"/>
            <a:ext cx="6267000" cy="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hasCustomPrompt="1" type="title"/>
          </p:nvPr>
        </p:nvSpPr>
        <p:spPr>
          <a:xfrm>
            <a:off x="1977261" y="1284625"/>
            <a:ext cx="722400" cy="50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717836" y="2302536"/>
            <a:ext cx="3154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hasCustomPrompt="1" idx="2" type="title"/>
          </p:nvPr>
        </p:nvSpPr>
        <p:spPr>
          <a:xfrm>
            <a:off x="5068125" y="1284625"/>
            <a:ext cx="722400" cy="50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3872625" y="2302536"/>
            <a:ext cx="3154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hasCustomPrompt="1" idx="4" type="title"/>
          </p:nvPr>
        </p:nvSpPr>
        <p:spPr>
          <a:xfrm>
            <a:off x="1977261" y="3014600"/>
            <a:ext cx="722400" cy="50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717836" y="4032503"/>
            <a:ext cx="3154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6" type="title"/>
          </p:nvPr>
        </p:nvSpPr>
        <p:spPr>
          <a:xfrm>
            <a:off x="5068125" y="3014600"/>
            <a:ext cx="722400" cy="50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7" type="subTitle"/>
          </p:nvPr>
        </p:nvSpPr>
        <p:spPr>
          <a:xfrm>
            <a:off x="3872625" y="4032503"/>
            <a:ext cx="3154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8"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717836" y="1863625"/>
            <a:ext cx="31548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3872625" y="1863625"/>
            <a:ext cx="31548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4" type="subTitle"/>
          </p:nvPr>
        </p:nvSpPr>
        <p:spPr>
          <a:xfrm>
            <a:off x="717836" y="3593600"/>
            <a:ext cx="31548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5" type="subTitle"/>
          </p:nvPr>
        </p:nvSpPr>
        <p:spPr>
          <a:xfrm>
            <a:off x="3872625" y="3593600"/>
            <a:ext cx="31548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3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219975" y="2084538"/>
            <a:ext cx="2907600" cy="10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22" y="0"/>
            <a:ext cx="9144000" cy="514348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8"/>
          <p:cNvSpPr txBox="1"/>
          <p:nvPr>
            <p:ph idx="1" type="subTitle"/>
          </p:nvPr>
        </p:nvSpPr>
        <p:spPr>
          <a:xfrm>
            <a:off x="720000" y="1988300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2" type="subTitle"/>
          </p:nvPr>
        </p:nvSpPr>
        <p:spPr>
          <a:xfrm>
            <a:off x="720000" y="2518689"/>
            <a:ext cx="23364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3" type="subTitle"/>
          </p:nvPr>
        </p:nvSpPr>
        <p:spPr>
          <a:xfrm>
            <a:off x="3403800" y="3748989"/>
            <a:ext cx="23364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4" type="subTitle"/>
          </p:nvPr>
        </p:nvSpPr>
        <p:spPr>
          <a:xfrm>
            <a:off x="6087600" y="2518689"/>
            <a:ext cx="23364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5" type="subTitle"/>
          </p:nvPr>
        </p:nvSpPr>
        <p:spPr>
          <a:xfrm>
            <a:off x="3403800" y="3218600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6" type="subTitle"/>
          </p:nvPr>
        </p:nvSpPr>
        <p:spPr>
          <a:xfrm>
            <a:off x="6087600" y="1988300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8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717550" y="2120286"/>
            <a:ext cx="23364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2" type="subTitle"/>
          </p:nvPr>
        </p:nvSpPr>
        <p:spPr>
          <a:xfrm>
            <a:off x="3403800" y="2120286"/>
            <a:ext cx="23364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subTitle"/>
          </p:nvPr>
        </p:nvSpPr>
        <p:spPr>
          <a:xfrm>
            <a:off x="6090050" y="2120286"/>
            <a:ext cx="23364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4" type="subTitle"/>
          </p:nvPr>
        </p:nvSpPr>
        <p:spPr>
          <a:xfrm>
            <a:off x="717550" y="3774903"/>
            <a:ext cx="23364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5" type="subTitle"/>
          </p:nvPr>
        </p:nvSpPr>
        <p:spPr>
          <a:xfrm>
            <a:off x="3403800" y="3774903"/>
            <a:ext cx="23364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6" type="subTitle"/>
          </p:nvPr>
        </p:nvSpPr>
        <p:spPr>
          <a:xfrm>
            <a:off x="6090050" y="3774903"/>
            <a:ext cx="23364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7" type="subTitle"/>
          </p:nvPr>
        </p:nvSpPr>
        <p:spPr>
          <a:xfrm>
            <a:off x="717550" y="1561725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8" type="subTitle"/>
          </p:nvPr>
        </p:nvSpPr>
        <p:spPr>
          <a:xfrm>
            <a:off x="3403800" y="1561725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9" type="subTitle"/>
          </p:nvPr>
        </p:nvSpPr>
        <p:spPr>
          <a:xfrm>
            <a:off x="6090050" y="1561725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13" type="subTitle"/>
          </p:nvPr>
        </p:nvSpPr>
        <p:spPr>
          <a:xfrm>
            <a:off x="717550" y="3217135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14" type="subTitle"/>
          </p:nvPr>
        </p:nvSpPr>
        <p:spPr>
          <a:xfrm>
            <a:off x="3403800" y="3217135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15" type="subTitle"/>
          </p:nvPr>
        </p:nvSpPr>
        <p:spPr>
          <a:xfrm>
            <a:off x="6090050" y="3217135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>
            <p:ph hasCustomPrompt="1" type="title"/>
          </p:nvPr>
        </p:nvSpPr>
        <p:spPr>
          <a:xfrm>
            <a:off x="2734050" y="1062275"/>
            <a:ext cx="36759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2734050" y="1814375"/>
            <a:ext cx="36759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hasCustomPrompt="1" idx="2" type="title"/>
          </p:nvPr>
        </p:nvSpPr>
        <p:spPr>
          <a:xfrm>
            <a:off x="715100" y="2716900"/>
            <a:ext cx="36759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715100" y="3469000"/>
            <a:ext cx="36759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hasCustomPrompt="1" idx="4" type="title"/>
          </p:nvPr>
        </p:nvSpPr>
        <p:spPr>
          <a:xfrm>
            <a:off x="4753000" y="2716900"/>
            <a:ext cx="36759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Font typeface="Dela Gothic One"/>
              <a:buNone/>
              <a:defRPr sz="62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753000" y="3469000"/>
            <a:ext cx="36759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type="ctrTitle"/>
          </p:nvPr>
        </p:nvSpPr>
        <p:spPr>
          <a:xfrm>
            <a:off x="2429925" y="53500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3" name="Google Shape;113;p21"/>
          <p:cNvSpPr txBox="1"/>
          <p:nvPr>
            <p:ph idx="1" type="subTitle"/>
          </p:nvPr>
        </p:nvSpPr>
        <p:spPr>
          <a:xfrm>
            <a:off x="2244175" y="1532800"/>
            <a:ext cx="4655700" cy="15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1"/>
          <p:cNvSpPr txBox="1"/>
          <p:nvPr/>
        </p:nvSpPr>
        <p:spPr>
          <a:xfrm flipH="1">
            <a:off x="2239200" y="3641925"/>
            <a:ext cx="4665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and infographics &amp; images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22" y="0"/>
            <a:ext cx="9144000" cy="5143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ela Gothic One"/>
              <a:buNone/>
              <a:defRPr sz="30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hyperlink" Target="https://www.sciencedirect.com/science/article/pii/S0272696316300444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jp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jp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Relationship Id="rId4" Type="http://schemas.openxmlformats.org/officeDocument/2006/relationships/image" Target="../media/image4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6.gif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6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6.gif"/><Relationship Id="rId4" Type="http://schemas.openxmlformats.org/officeDocument/2006/relationships/image" Target="../media/image3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0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0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0.jpg"/><Relationship Id="rId4" Type="http://schemas.openxmlformats.org/officeDocument/2006/relationships/image" Target="../media/image3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5.png"/><Relationship Id="rId4" Type="http://schemas.openxmlformats.org/officeDocument/2006/relationships/image" Target="../media/image5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3.png"/><Relationship Id="rId4" Type="http://schemas.openxmlformats.org/officeDocument/2006/relationships/image" Target="../media/image44.png"/><Relationship Id="rId5" Type="http://schemas.openxmlformats.org/officeDocument/2006/relationships/hyperlink" Target="https://github.com/asevillasastre/GAMS-FLP-ACNUR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7.png"/><Relationship Id="rId4" Type="http://schemas.openxmlformats.org/officeDocument/2006/relationships/image" Target="../media/image4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2.png"/><Relationship Id="rId4" Type="http://schemas.openxmlformats.org/officeDocument/2006/relationships/image" Target="../media/image5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0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0.jpg"/><Relationship Id="rId4" Type="http://schemas.openxmlformats.org/officeDocument/2006/relationships/image" Target="../media/image4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5.png"/><Relationship Id="rId4" Type="http://schemas.openxmlformats.org/officeDocument/2006/relationships/hyperlink" Target="https://www.msf.es/msf-en-el-mundo" TargetMode="External"/><Relationship Id="rId5" Type="http://schemas.openxmlformats.org/officeDocument/2006/relationships/image" Target="../media/image4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5.png"/><Relationship Id="rId4" Type="http://schemas.openxmlformats.org/officeDocument/2006/relationships/image" Target="../media/image54.png"/><Relationship Id="rId5" Type="http://schemas.openxmlformats.org/officeDocument/2006/relationships/hyperlink" Target="https://www.msf.es/quienes-somos/como-enviamos-ayuda" TargetMode="Externa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9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9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5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7.xml"/><Relationship Id="rId3" Type="http://schemas.openxmlformats.org/officeDocument/2006/relationships/hyperlink" Target="https://www.sciencedirect.com/science/article/pii/S0272696316300444" TargetMode="External"/><Relationship Id="rId4" Type="http://schemas.openxmlformats.org/officeDocument/2006/relationships/hyperlink" Target="https://github.com/asevillasastre/GAMS-FLP-ACNUR" TargetMode="External"/><Relationship Id="rId5" Type="http://schemas.openxmlformats.org/officeDocument/2006/relationships/hyperlink" Target="https://www.msf.es/quienes-somos" TargetMode="Externa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ctrTitle"/>
          </p:nvPr>
        </p:nvSpPr>
        <p:spPr>
          <a:xfrm>
            <a:off x="1368525" y="704675"/>
            <a:ext cx="61758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Modelo de optimización para la i</a:t>
            </a:r>
            <a:r>
              <a:rPr lang="en" sz="3400"/>
              <a:t>ntegración de operaciones en curso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y de emergencia</a:t>
            </a:r>
            <a:endParaRPr sz="3400"/>
          </a:p>
        </p:txBody>
      </p:sp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1484100" y="3699075"/>
            <a:ext cx="6175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Antonio Sevilla Sastre</a:t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7225" y="3411649"/>
            <a:ext cx="937100" cy="8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4754163" y="2916400"/>
            <a:ext cx="1350325" cy="730400"/>
          </a:xfrm>
          <a:custGeom>
            <a:rect b="b" l="l" r="r" t="t"/>
            <a:pathLst>
              <a:path extrusionOk="0" h="29216" w="54013">
                <a:moveTo>
                  <a:pt x="0" y="6383"/>
                </a:moveTo>
                <a:lnTo>
                  <a:pt x="41983" y="0"/>
                </a:lnTo>
                <a:lnTo>
                  <a:pt x="54013" y="16695"/>
                </a:lnTo>
                <a:lnTo>
                  <a:pt x="22096" y="292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1" name="Google Shape;131;p25"/>
          <p:cNvSpPr/>
          <p:nvPr/>
        </p:nvSpPr>
        <p:spPr>
          <a:xfrm>
            <a:off x="1905475" y="3014600"/>
            <a:ext cx="1012750" cy="534000"/>
          </a:xfrm>
          <a:custGeom>
            <a:rect b="b" l="l" r="r" t="t"/>
            <a:pathLst>
              <a:path extrusionOk="0" h="21360" w="40510">
                <a:moveTo>
                  <a:pt x="1719" y="0"/>
                </a:moveTo>
                <a:lnTo>
                  <a:pt x="32899" y="491"/>
                </a:lnTo>
                <a:lnTo>
                  <a:pt x="40510" y="15959"/>
                </a:lnTo>
                <a:lnTo>
                  <a:pt x="0" y="21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2" name="Google Shape;132;p25"/>
          <p:cNvSpPr/>
          <p:nvPr/>
        </p:nvSpPr>
        <p:spPr>
          <a:xfrm>
            <a:off x="4914100" y="1109274"/>
            <a:ext cx="1231770" cy="752757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3" name="Google Shape;133;p25"/>
          <p:cNvSpPr/>
          <p:nvPr/>
        </p:nvSpPr>
        <p:spPr>
          <a:xfrm>
            <a:off x="1635400" y="1213788"/>
            <a:ext cx="1319650" cy="644475"/>
          </a:xfrm>
          <a:custGeom>
            <a:rect b="b" l="l" r="r" t="t"/>
            <a:pathLst>
              <a:path extrusionOk="0" h="25779" w="52786">
                <a:moveTo>
                  <a:pt x="0" y="15713"/>
                </a:moveTo>
                <a:lnTo>
                  <a:pt x="20378" y="1228"/>
                </a:lnTo>
                <a:lnTo>
                  <a:pt x="52786" y="0"/>
                </a:lnTo>
                <a:lnTo>
                  <a:pt x="51313" y="14976"/>
                </a:lnTo>
                <a:lnTo>
                  <a:pt x="29216" y="25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4" name="Google Shape;134;p25"/>
          <p:cNvSpPr txBox="1"/>
          <p:nvPr>
            <p:ph type="title"/>
          </p:nvPr>
        </p:nvSpPr>
        <p:spPr>
          <a:xfrm>
            <a:off x="1977261" y="1284625"/>
            <a:ext cx="7224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25"/>
          <p:cNvSpPr txBox="1"/>
          <p:nvPr>
            <p:ph idx="2" type="title"/>
          </p:nvPr>
        </p:nvSpPr>
        <p:spPr>
          <a:xfrm>
            <a:off x="5068125" y="1284625"/>
            <a:ext cx="7224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p25"/>
          <p:cNvSpPr txBox="1"/>
          <p:nvPr>
            <p:ph idx="4" type="title"/>
          </p:nvPr>
        </p:nvSpPr>
        <p:spPr>
          <a:xfrm>
            <a:off x="1977261" y="3014600"/>
            <a:ext cx="7224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25"/>
          <p:cNvSpPr txBox="1"/>
          <p:nvPr>
            <p:ph idx="5" type="subTitle"/>
          </p:nvPr>
        </p:nvSpPr>
        <p:spPr>
          <a:xfrm>
            <a:off x="717836" y="4230653"/>
            <a:ext cx="3154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es</a:t>
            </a:r>
            <a:r>
              <a:rPr lang="en"/>
              <a:t>tocástica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multicriterio</a:t>
            </a:r>
            <a:endParaRPr/>
          </a:p>
        </p:txBody>
      </p:sp>
      <p:sp>
        <p:nvSpPr>
          <p:cNvPr id="138" name="Google Shape;138;p25"/>
          <p:cNvSpPr txBox="1"/>
          <p:nvPr>
            <p:ph idx="6" type="title"/>
          </p:nvPr>
        </p:nvSpPr>
        <p:spPr>
          <a:xfrm>
            <a:off x="5068125" y="3014600"/>
            <a:ext cx="7224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p25"/>
          <p:cNvSpPr txBox="1"/>
          <p:nvPr>
            <p:ph idx="7" type="subTitle"/>
          </p:nvPr>
        </p:nvSpPr>
        <p:spPr>
          <a:xfrm>
            <a:off x="3851925" y="4346203"/>
            <a:ext cx="3154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Médecins Sans Frontières</a:t>
            </a:r>
            <a:endParaRPr/>
          </a:p>
        </p:txBody>
      </p:sp>
      <p:sp>
        <p:nvSpPr>
          <p:cNvPr id="140" name="Google Shape;140;p25"/>
          <p:cNvSpPr txBox="1"/>
          <p:nvPr>
            <p:ph idx="8" type="title"/>
          </p:nvPr>
        </p:nvSpPr>
        <p:spPr>
          <a:xfrm>
            <a:off x="720000" y="392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Índice de la presentación</a:t>
            </a:r>
            <a:endParaRPr/>
          </a:p>
        </p:txBody>
      </p:sp>
      <p:sp>
        <p:nvSpPr>
          <p:cNvPr id="141" name="Google Shape;141;p25"/>
          <p:cNvSpPr txBox="1"/>
          <p:nvPr>
            <p:ph idx="9" type="subTitle"/>
          </p:nvPr>
        </p:nvSpPr>
        <p:spPr>
          <a:xfrm>
            <a:off x="717836" y="2216988"/>
            <a:ext cx="31548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Planteamiento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problema</a:t>
            </a:r>
            <a:endParaRPr/>
          </a:p>
        </p:txBody>
      </p:sp>
      <p:sp>
        <p:nvSpPr>
          <p:cNvPr id="142" name="Google Shape;142;p25"/>
          <p:cNvSpPr txBox="1"/>
          <p:nvPr>
            <p:ph idx="13" type="subTitle"/>
          </p:nvPr>
        </p:nvSpPr>
        <p:spPr>
          <a:xfrm>
            <a:off x="3765350" y="2218850"/>
            <a:ext cx="31548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Explicación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modelo</a:t>
            </a:r>
            <a:endParaRPr/>
          </a:p>
        </p:txBody>
      </p:sp>
      <p:sp>
        <p:nvSpPr>
          <p:cNvPr id="143" name="Google Shape;143;p25"/>
          <p:cNvSpPr txBox="1"/>
          <p:nvPr>
            <p:ph idx="14" type="subTitle"/>
          </p:nvPr>
        </p:nvSpPr>
        <p:spPr>
          <a:xfrm>
            <a:off x="717836" y="3907300"/>
            <a:ext cx="31548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empleadas</a:t>
            </a:r>
            <a:endParaRPr/>
          </a:p>
        </p:txBody>
      </p:sp>
      <p:sp>
        <p:nvSpPr>
          <p:cNvPr id="144" name="Google Shape;144;p25"/>
          <p:cNvSpPr txBox="1"/>
          <p:nvPr>
            <p:ph idx="15" type="subTitle"/>
          </p:nvPr>
        </p:nvSpPr>
        <p:spPr>
          <a:xfrm>
            <a:off x="3851925" y="3954525"/>
            <a:ext cx="31548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de estudio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propuesto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/>
          <p:nvPr/>
        </p:nvSpPr>
        <p:spPr>
          <a:xfrm>
            <a:off x="3788675" y="442175"/>
            <a:ext cx="1877882" cy="1147608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1581150" y="1915325"/>
            <a:ext cx="5981700" cy="102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Planteamiento</a:t>
            </a:r>
            <a:endParaRPr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del problema</a:t>
            </a:r>
            <a:endParaRPr sz="4100"/>
          </a:p>
        </p:txBody>
      </p:sp>
      <p:sp>
        <p:nvSpPr>
          <p:cNvPr id="151" name="Google Shape;151;p26"/>
          <p:cNvSpPr txBox="1"/>
          <p:nvPr>
            <p:ph idx="2" type="title"/>
          </p:nvPr>
        </p:nvSpPr>
        <p:spPr>
          <a:xfrm>
            <a:off x="3947250" y="627800"/>
            <a:ext cx="1249500" cy="9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9800"/>
            <a:ext cx="7296950" cy="368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198150" y="4149200"/>
            <a:ext cx="7775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https://www.sciencedirect.com/science/article/pii/S0272696316300444</a:t>
            </a:r>
            <a:endParaRPr sz="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 title="avion_con_ayuda_de_acnu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000" y="207625"/>
            <a:ext cx="7353999" cy="20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9" title="avion_con_ayuda_de_acnu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000" y="207625"/>
            <a:ext cx="7353999" cy="20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9"/>
          <p:cNvSpPr txBox="1"/>
          <p:nvPr/>
        </p:nvSpPr>
        <p:spPr>
          <a:xfrm>
            <a:off x="895000" y="2461125"/>
            <a:ext cx="85779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Dela Gothic One"/>
              <a:buChar char="●"/>
            </a:pPr>
            <a:r>
              <a:rPr lang="en" sz="27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Operaciones sostenidas, en curso</a:t>
            </a:r>
            <a:endParaRPr sz="2700">
              <a:solidFill>
                <a:schemeClr val="lt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0" title="avion_con_ayuda_de_acnu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000" y="207625"/>
            <a:ext cx="7353999" cy="20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/>
        </p:nvSpPr>
        <p:spPr>
          <a:xfrm>
            <a:off x="895000" y="2461125"/>
            <a:ext cx="85779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Dela Gothic One"/>
              <a:buChar char="●"/>
            </a:pPr>
            <a:r>
              <a:rPr lang="en" sz="27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Operaciones de emergencia</a:t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1" title="avion_con_ayuda_de_acnu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000" y="207625"/>
            <a:ext cx="7353999" cy="20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1"/>
          <p:cNvSpPr txBox="1"/>
          <p:nvPr/>
        </p:nvSpPr>
        <p:spPr>
          <a:xfrm>
            <a:off x="895000" y="2461125"/>
            <a:ext cx="85779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Integrar</a:t>
            </a:r>
            <a:endParaRPr sz="2700">
              <a:solidFill>
                <a:schemeClr val="lt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Dela Gothic One"/>
              <a:buChar char="●"/>
            </a:pPr>
            <a:r>
              <a:rPr lang="en" sz="27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Operaciones sostenidas, en curso</a:t>
            </a:r>
            <a:endParaRPr sz="2700">
              <a:solidFill>
                <a:schemeClr val="lt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Dela Gothic One"/>
              <a:buChar char="●"/>
            </a:pPr>
            <a:r>
              <a:rPr lang="en" sz="27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Operaciones de emergencia</a:t>
            </a:r>
            <a:endParaRPr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/>
          <p:nvPr/>
        </p:nvSpPr>
        <p:spPr>
          <a:xfrm rot="10269836">
            <a:off x="2085076" y="1514641"/>
            <a:ext cx="1175522" cy="752759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6" name="Google Shape;186;p32"/>
          <p:cNvSpPr/>
          <p:nvPr/>
        </p:nvSpPr>
        <p:spPr>
          <a:xfrm>
            <a:off x="5949325" y="1569325"/>
            <a:ext cx="1012750" cy="643363"/>
          </a:xfrm>
          <a:custGeom>
            <a:rect b="b" l="l" r="r" t="t"/>
            <a:pathLst>
              <a:path extrusionOk="0" h="21360" w="40510">
                <a:moveTo>
                  <a:pt x="1719" y="0"/>
                </a:moveTo>
                <a:lnTo>
                  <a:pt x="32899" y="491"/>
                </a:lnTo>
                <a:lnTo>
                  <a:pt x="40510" y="15959"/>
                </a:lnTo>
                <a:lnTo>
                  <a:pt x="0" y="21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7" name="Google Shape;187;p32"/>
          <p:cNvSpPr txBox="1"/>
          <p:nvPr>
            <p:ph type="title"/>
          </p:nvPr>
        </p:nvSpPr>
        <p:spPr>
          <a:xfrm>
            <a:off x="720000" y="724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demandas</a:t>
            </a:r>
            <a:endParaRPr/>
          </a:p>
        </p:txBody>
      </p:sp>
      <p:grpSp>
        <p:nvGrpSpPr>
          <p:cNvPr id="188" name="Google Shape;188;p32"/>
          <p:cNvGrpSpPr/>
          <p:nvPr/>
        </p:nvGrpSpPr>
        <p:grpSpPr>
          <a:xfrm>
            <a:off x="2616249" y="1630727"/>
            <a:ext cx="339253" cy="339253"/>
            <a:chOff x="5660400" y="238125"/>
            <a:chExt cx="481825" cy="481825"/>
          </a:xfrm>
        </p:grpSpPr>
        <p:sp>
          <p:nvSpPr>
            <p:cNvPr id="189" name="Google Shape;189;p32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0" name="Google Shape;190;p32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1" name="Google Shape;191;p32"/>
          <p:cNvGrpSpPr/>
          <p:nvPr/>
        </p:nvGrpSpPr>
        <p:grpSpPr>
          <a:xfrm>
            <a:off x="6229326" y="1671915"/>
            <a:ext cx="339237" cy="339270"/>
            <a:chOff x="899850" y="871450"/>
            <a:chExt cx="483175" cy="423400"/>
          </a:xfrm>
        </p:grpSpPr>
        <p:sp>
          <p:nvSpPr>
            <p:cNvPr id="192" name="Google Shape;192;p32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3" name="Google Shape;193;p32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4" name="Google Shape;194;p32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5" name="Google Shape;195;p32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/>
          <p:nvPr/>
        </p:nvSpPr>
        <p:spPr>
          <a:xfrm rot="10269836">
            <a:off x="2085076" y="1514641"/>
            <a:ext cx="1175522" cy="752759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1" name="Google Shape;201;p33"/>
          <p:cNvSpPr/>
          <p:nvPr/>
        </p:nvSpPr>
        <p:spPr>
          <a:xfrm>
            <a:off x="5949325" y="1569325"/>
            <a:ext cx="1012750" cy="643363"/>
          </a:xfrm>
          <a:custGeom>
            <a:rect b="b" l="l" r="r" t="t"/>
            <a:pathLst>
              <a:path extrusionOk="0" h="21360" w="40510">
                <a:moveTo>
                  <a:pt x="1719" y="0"/>
                </a:moveTo>
                <a:lnTo>
                  <a:pt x="32899" y="491"/>
                </a:lnTo>
                <a:lnTo>
                  <a:pt x="40510" y="15959"/>
                </a:lnTo>
                <a:lnTo>
                  <a:pt x="0" y="21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2" name="Google Shape;202;p33"/>
          <p:cNvSpPr txBox="1"/>
          <p:nvPr>
            <p:ph idx="1" type="subTitle"/>
          </p:nvPr>
        </p:nvSpPr>
        <p:spPr>
          <a:xfrm>
            <a:off x="1153513" y="2303125"/>
            <a:ext cx="3182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curso</a:t>
            </a:r>
            <a:endParaRPr/>
          </a:p>
        </p:txBody>
      </p:sp>
      <p:sp>
        <p:nvSpPr>
          <p:cNvPr id="203" name="Google Shape;203;p33"/>
          <p:cNvSpPr txBox="1"/>
          <p:nvPr>
            <p:ph type="title"/>
          </p:nvPr>
        </p:nvSpPr>
        <p:spPr>
          <a:xfrm>
            <a:off x="720000" y="724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demandas</a:t>
            </a:r>
            <a:endParaRPr/>
          </a:p>
        </p:txBody>
      </p:sp>
      <p:grpSp>
        <p:nvGrpSpPr>
          <p:cNvPr id="204" name="Google Shape;204;p33"/>
          <p:cNvGrpSpPr/>
          <p:nvPr/>
        </p:nvGrpSpPr>
        <p:grpSpPr>
          <a:xfrm>
            <a:off x="2616249" y="1630727"/>
            <a:ext cx="339253" cy="339253"/>
            <a:chOff x="5660400" y="238125"/>
            <a:chExt cx="481825" cy="481825"/>
          </a:xfrm>
        </p:grpSpPr>
        <p:sp>
          <p:nvSpPr>
            <p:cNvPr id="205" name="Google Shape;205;p33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6" name="Google Shape;206;p33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7" name="Google Shape;207;p33"/>
          <p:cNvGrpSpPr/>
          <p:nvPr/>
        </p:nvGrpSpPr>
        <p:grpSpPr>
          <a:xfrm>
            <a:off x="6229326" y="1671915"/>
            <a:ext cx="339237" cy="339270"/>
            <a:chOff x="899850" y="871450"/>
            <a:chExt cx="483175" cy="423400"/>
          </a:xfrm>
        </p:grpSpPr>
        <p:sp>
          <p:nvSpPr>
            <p:cNvPr id="208" name="Google Shape;208;p33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" name="Google Shape;209;p33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" name="Google Shape;210;p33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1" name="Google Shape;211;p33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 rot="10269836">
            <a:off x="2085076" y="1514641"/>
            <a:ext cx="1175522" cy="752759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7" name="Google Shape;217;p34"/>
          <p:cNvSpPr/>
          <p:nvPr/>
        </p:nvSpPr>
        <p:spPr>
          <a:xfrm>
            <a:off x="5949325" y="1569325"/>
            <a:ext cx="1012750" cy="643363"/>
          </a:xfrm>
          <a:custGeom>
            <a:rect b="b" l="l" r="r" t="t"/>
            <a:pathLst>
              <a:path extrusionOk="0" h="21360" w="40510">
                <a:moveTo>
                  <a:pt x="1719" y="0"/>
                </a:moveTo>
                <a:lnTo>
                  <a:pt x="32899" y="491"/>
                </a:lnTo>
                <a:lnTo>
                  <a:pt x="40510" y="15959"/>
                </a:lnTo>
                <a:lnTo>
                  <a:pt x="0" y="21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8" name="Google Shape;218;p34"/>
          <p:cNvSpPr txBox="1"/>
          <p:nvPr>
            <p:ph idx="1" type="subTitle"/>
          </p:nvPr>
        </p:nvSpPr>
        <p:spPr>
          <a:xfrm>
            <a:off x="1153513" y="2303125"/>
            <a:ext cx="3182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curso</a:t>
            </a:r>
            <a:endParaRPr/>
          </a:p>
        </p:txBody>
      </p:sp>
      <p:sp>
        <p:nvSpPr>
          <p:cNvPr id="219" name="Google Shape;219;p34"/>
          <p:cNvSpPr txBox="1"/>
          <p:nvPr>
            <p:ph idx="3" type="subTitle"/>
          </p:nvPr>
        </p:nvSpPr>
        <p:spPr>
          <a:xfrm>
            <a:off x="1153513" y="2833525"/>
            <a:ext cx="31821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Homogénea</a:t>
            </a:r>
            <a:endParaRPr/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Predecible</a:t>
            </a:r>
            <a:endParaRPr/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Aplazable</a:t>
            </a:r>
            <a:endParaRPr/>
          </a:p>
        </p:txBody>
      </p:sp>
      <p:sp>
        <p:nvSpPr>
          <p:cNvPr id="220" name="Google Shape;220;p34"/>
          <p:cNvSpPr txBox="1"/>
          <p:nvPr>
            <p:ph type="title"/>
          </p:nvPr>
        </p:nvSpPr>
        <p:spPr>
          <a:xfrm>
            <a:off x="720000" y="724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demandas</a:t>
            </a:r>
            <a:endParaRPr/>
          </a:p>
        </p:txBody>
      </p:sp>
      <p:grpSp>
        <p:nvGrpSpPr>
          <p:cNvPr id="221" name="Google Shape;221;p34"/>
          <p:cNvGrpSpPr/>
          <p:nvPr/>
        </p:nvGrpSpPr>
        <p:grpSpPr>
          <a:xfrm>
            <a:off x="2616249" y="1630727"/>
            <a:ext cx="339253" cy="339253"/>
            <a:chOff x="5660400" y="238125"/>
            <a:chExt cx="481825" cy="481825"/>
          </a:xfrm>
        </p:grpSpPr>
        <p:sp>
          <p:nvSpPr>
            <p:cNvPr id="222" name="Google Shape;222;p34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3" name="Google Shape;223;p34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4" name="Google Shape;224;p34"/>
          <p:cNvGrpSpPr/>
          <p:nvPr/>
        </p:nvGrpSpPr>
        <p:grpSpPr>
          <a:xfrm>
            <a:off x="6229326" y="1671915"/>
            <a:ext cx="339237" cy="339270"/>
            <a:chOff x="899850" y="871450"/>
            <a:chExt cx="483175" cy="423400"/>
          </a:xfrm>
        </p:grpSpPr>
        <p:sp>
          <p:nvSpPr>
            <p:cNvPr id="225" name="Google Shape;225;p34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6" name="Google Shape;226;p34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7" name="Google Shape;227;p34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8" name="Google Shape;228;p34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/>
          <p:nvPr/>
        </p:nvSpPr>
        <p:spPr>
          <a:xfrm rot="10269836">
            <a:off x="2085076" y="1514641"/>
            <a:ext cx="1175522" cy="752759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4" name="Google Shape;234;p35"/>
          <p:cNvSpPr/>
          <p:nvPr/>
        </p:nvSpPr>
        <p:spPr>
          <a:xfrm>
            <a:off x="5949325" y="1569325"/>
            <a:ext cx="1012750" cy="643363"/>
          </a:xfrm>
          <a:custGeom>
            <a:rect b="b" l="l" r="r" t="t"/>
            <a:pathLst>
              <a:path extrusionOk="0" h="21360" w="40510">
                <a:moveTo>
                  <a:pt x="1719" y="0"/>
                </a:moveTo>
                <a:lnTo>
                  <a:pt x="32899" y="491"/>
                </a:lnTo>
                <a:lnTo>
                  <a:pt x="40510" y="15959"/>
                </a:lnTo>
                <a:lnTo>
                  <a:pt x="0" y="21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5" name="Google Shape;235;p35"/>
          <p:cNvSpPr txBox="1"/>
          <p:nvPr>
            <p:ph idx="1" type="subTitle"/>
          </p:nvPr>
        </p:nvSpPr>
        <p:spPr>
          <a:xfrm>
            <a:off x="1153513" y="2303125"/>
            <a:ext cx="3182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curso</a:t>
            </a:r>
            <a:endParaRPr/>
          </a:p>
        </p:txBody>
      </p:sp>
      <p:sp>
        <p:nvSpPr>
          <p:cNvPr id="236" name="Google Shape;236;p35"/>
          <p:cNvSpPr txBox="1"/>
          <p:nvPr>
            <p:ph idx="2" type="subTitle"/>
          </p:nvPr>
        </p:nvSpPr>
        <p:spPr>
          <a:xfrm>
            <a:off x="4808388" y="2303125"/>
            <a:ext cx="3182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Emergencia</a:t>
            </a:r>
            <a:endParaRPr/>
          </a:p>
        </p:txBody>
      </p:sp>
      <p:sp>
        <p:nvSpPr>
          <p:cNvPr id="237" name="Google Shape;237;p35"/>
          <p:cNvSpPr txBox="1"/>
          <p:nvPr>
            <p:ph idx="3" type="subTitle"/>
          </p:nvPr>
        </p:nvSpPr>
        <p:spPr>
          <a:xfrm>
            <a:off x="1153513" y="2833525"/>
            <a:ext cx="31821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Homogénea</a:t>
            </a:r>
            <a:endParaRPr/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Predecible</a:t>
            </a:r>
            <a:endParaRPr/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Aplazable</a:t>
            </a:r>
            <a:endParaRPr/>
          </a:p>
        </p:txBody>
      </p:sp>
      <p:sp>
        <p:nvSpPr>
          <p:cNvPr id="238" name="Google Shape;238;p35"/>
          <p:cNvSpPr txBox="1"/>
          <p:nvPr>
            <p:ph type="title"/>
          </p:nvPr>
        </p:nvSpPr>
        <p:spPr>
          <a:xfrm>
            <a:off x="720000" y="724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demandas</a:t>
            </a:r>
            <a:endParaRPr/>
          </a:p>
        </p:txBody>
      </p:sp>
      <p:grpSp>
        <p:nvGrpSpPr>
          <p:cNvPr id="239" name="Google Shape;239;p35"/>
          <p:cNvGrpSpPr/>
          <p:nvPr/>
        </p:nvGrpSpPr>
        <p:grpSpPr>
          <a:xfrm>
            <a:off x="2616249" y="1630727"/>
            <a:ext cx="339253" cy="339253"/>
            <a:chOff x="5660400" y="238125"/>
            <a:chExt cx="481825" cy="481825"/>
          </a:xfrm>
        </p:grpSpPr>
        <p:sp>
          <p:nvSpPr>
            <p:cNvPr id="240" name="Google Shape;240;p35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1" name="Google Shape;241;p35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42" name="Google Shape;242;p35"/>
          <p:cNvGrpSpPr/>
          <p:nvPr/>
        </p:nvGrpSpPr>
        <p:grpSpPr>
          <a:xfrm>
            <a:off x="6229326" y="1671915"/>
            <a:ext cx="339237" cy="339270"/>
            <a:chOff x="899850" y="871450"/>
            <a:chExt cx="483175" cy="423400"/>
          </a:xfrm>
        </p:grpSpPr>
        <p:sp>
          <p:nvSpPr>
            <p:cNvPr id="243" name="Google Shape;243;p35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4" name="Google Shape;244;p35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5" name="Google Shape;245;p35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6" name="Google Shape;246;p35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/>
          <p:nvPr/>
        </p:nvSpPr>
        <p:spPr>
          <a:xfrm rot="10269836">
            <a:off x="2085076" y="1514641"/>
            <a:ext cx="1175522" cy="752759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2" name="Google Shape;252;p36"/>
          <p:cNvSpPr/>
          <p:nvPr/>
        </p:nvSpPr>
        <p:spPr>
          <a:xfrm>
            <a:off x="5949325" y="1569325"/>
            <a:ext cx="1012750" cy="643363"/>
          </a:xfrm>
          <a:custGeom>
            <a:rect b="b" l="l" r="r" t="t"/>
            <a:pathLst>
              <a:path extrusionOk="0" h="21360" w="40510">
                <a:moveTo>
                  <a:pt x="1719" y="0"/>
                </a:moveTo>
                <a:lnTo>
                  <a:pt x="32899" y="491"/>
                </a:lnTo>
                <a:lnTo>
                  <a:pt x="40510" y="15959"/>
                </a:lnTo>
                <a:lnTo>
                  <a:pt x="0" y="21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3" name="Google Shape;253;p36"/>
          <p:cNvSpPr txBox="1"/>
          <p:nvPr>
            <p:ph idx="1" type="subTitle"/>
          </p:nvPr>
        </p:nvSpPr>
        <p:spPr>
          <a:xfrm>
            <a:off x="1153513" y="2303125"/>
            <a:ext cx="3182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curso</a:t>
            </a:r>
            <a:endParaRPr/>
          </a:p>
        </p:txBody>
      </p:sp>
      <p:sp>
        <p:nvSpPr>
          <p:cNvPr id="254" name="Google Shape;254;p36"/>
          <p:cNvSpPr txBox="1"/>
          <p:nvPr>
            <p:ph idx="2" type="subTitle"/>
          </p:nvPr>
        </p:nvSpPr>
        <p:spPr>
          <a:xfrm>
            <a:off x="4808388" y="2303125"/>
            <a:ext cx="3182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Emergencia</a:t>
            </a:r>
            <a:endParaRPr/>
          </a:p>
        </p:txBody>
      </p:sp>
      <p:sp>
        <p:nvSpPr>
          <p:cNvPr id="255" name="Google Shape;255;p36"/>
          <p:cNvSpPr txBox="1"/>
          <p:nvPr>
            <p:ph idx="3" type="subTitle"/>
          </p:nvPr>
        </p:nvSpPr>
        <p:spPr>
          <a:xfrm>
            <a:off x="1153513" y="2833525"/>
            <a:ext cx="31821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Homogénea</a:t>
            </a:r>
            <a:endParaRPr/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Predecible</a:t>
            </a:r>
            <a:endParaRPr/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Aplazable</a:t>
            </a:r>
            <a:endParaRPr/>
          </a:p>
        </p:txBody>
      </p:sp>
      <p:sp>
        <p:nvSpPr>
          <p:cNvPr id="256" name="Google Shape;256;p36"/>
          <p:cNvSpPr txBox="1"/>
          <p:nvPr>
            <p:ph idx="4" type="subTitle"/>
          </p:nvPr>
        </p:nvSpPr>
        <p:spPr>
          <a:xfrm>
            <a:off x="4808388" y="2833525"/>
            <a:ext cx="31821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Heterogénea</a:t>
            </a:r>
            <a:endParaRPr/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Incertidumbre</a:t>
            </a:r>
            <a:endParaRPr/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Urgente</a:t>
            </a:r>
            <a:endParaRPr/>
          </a:p>
        </p:txBody>
      </p:sp>
      <p:sp>
        <p:nvSpPr>
          <p:cNvPr id="257" name="Google Shape;257;p36"/>
          <p:cNvSpPr txBox="1"/>
          <p:nvPr>
            <p:ph type="title"/>
          </p:nvPr>
        </p:nvSpPr>
        <p:spPr>
          <a:xfrm>
            <a:off x="720000" y="724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demandas</a:t>
            </a:r>
            <a:endParaRPr/>
          </a:p>
        </p:txBody>
      </p:sp>
      <p:grpSp>
        <p:nvGrpSpPr>
          <p:cNvPr id="258" name="Google Shape;258;p36"/>
          <p:cNvGrpSpPr/>
          <p:nvPr/>
        </p:nvGrpSpPr>
        <p:grpSpPr>
          <a:xfrm>
            <a:off x="2616249" y="1630727"/>
            <a:ext cx="339253" cy="339253"/>
            <a:chOff x="5660400" y="238125"/>
            <a:chExt cx="481825" cy="481825"/>
          </a:xfrm>
        </p:grpSpPr>
        <p:sp>
          <p:nvSpPr>
            <p:cNvPr id="259" name="Google Shape;259;p36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0" name="Google Shape;260;p36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1" name="Google Shape;261;p36"/>
          <p:cNvGrpSpPr/>
          <p:nvPr/>
        </p:nvGrpSpPr>
        <p:grpSpPr>
          <a:xfrm>
            <a:off x="6229326" y="1671915"/>
            <a:ext cx="339237" cy="339270"/>
            <a:chOff x="899850" y="871450"/>
            <a:chExt cx="483175" cy="423400"/>
          </a:xfrm>
        </p:grpSpPr>
        <p:sp>
          <p:nvSpPr>
            <p:cNvPr id="262" name="Google Shape;262;p36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3" name="Google Shape;263;p36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4" name="Google Shape;264;p36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5" name="Google Shape;265;p36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50" y="140350"/>
            <a:ext cx="8311051" cy="380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8" title="fotonoticia_20220616020256_1200_v2.jpg"/>
          <p:cNvPicPr preferRelativeResize="0"/>
          <p:nvPr/>
        </p:nvPicPr>
        <p:blipFill rotWithShape="1">
          <a:blip r:embed="rId3">
            <a:alphaModFix/>
          </a:blip>
          <a:srcRect b="2839" l="0" r="0" t="2839"/>
          <a:stretch/>
        </p:blipFill>
        <p:spPr>
          <a:xfrm>
            <a:off x="568500" y="0"/>
            <a:ext cx="7656900" cy="431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500" y="0"/>
            <a:ext cx="7656901" cy="43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500" y="0"/>
            <a:ext cx="7656901" cy="43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/>
          <p:nvPr/>
        </p:nvSpPr>
        <p:spPr>
          <a:xfrm>
            <a:off x="132125" y="2410725"/>
            <a:ext cx="30000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¡</a:t>
            </a: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Stock preposicionado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para 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ambos</a:t>
            </a: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tipos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 operaciones!</a:t>
            </a:r>
            <a:b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flujos de transporte</a:t>
            </a:r>
            <a:endParaRPr/>
          </a:p>
        </p:txBody>
      </p:sp>
      <p:grpSp>
        <p:nvGrpSpPr>
          <p:cNvPr id="292" name="Google Shape;292;p41"/>
          <p:cNvGrpSpPr/>
          <p:nvPr/>
        </p:nvGrpSpPr>
        <p:grpSpPr>
          <a:xfrm>
            <a:off x="4119104" y="2029522"/>
            <a:ext cx="904045" cy="1084538"/>
            <a:chOff x="-40745125" y="3632900"/>
            <a:chExt cx="318225" cy="289875"/>
          </a:xfrm>
        </p:grpSpPr>
        <p:sp>
          <p:nvSpPr>
            <p:cNvPr id="293" name="Google Shape;293;p41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1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1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1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1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1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1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flujos de transporte</a:t>
            </a:r>
            <a:endParaRPr/>
          </a:p>
        </p:txBody>
      </p:sp>
      <p:sp>
        <p:nvSpPr>
          <p:cNvPr id="305" name="Google Shape;305;p42"/>
          <p:cNvSpPr/>
          <p:nvPr/>
        </p:nvSpPr>
        <p:spPr>
          <a:xfrm>
            <a:off x="7088957" y="1570876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306" name="Google Shape;306;p42"/>
          <p:cNvGrpSpPr/>
          <p:nvPr/>
        </p:nvGrpSpPr>
        <p:grpSpPr>
          <a:xfrm>
            <a:off x="4119104" y="2029522"/>
            <a:ext cx="904045" cy="1084538"/>
            <a:chOff x="-40745125" y="3632900"/>
            <a:chExt cx="318225" cy="289875"/>
          </a:xfrm>
        </p:grpSpPr>
        <p:sp>
          <p:nvSpPr>
            <p:cNvPr id="307" name="Google Shape;307;p42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2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2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2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2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2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2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4" name="Google Shape;314;p42"/>
          <p:cNvGrpSpPr/>
          <p:nvPr/>
        </p:nvGrpSpPr>
        <p:grpSpPr>
          <a:xfrm>
            <a:off x="6768127" y="2029399"/>
            <a:ext cx="904017" cy="1084535"/>
            <a:chOff x="-30354000" y="3569100"/>
            <a:chExt cx="292250" cy="292225"/>
          </a:xfrm>
        </p:grpSpPr>
        <p:sp>
          <p:nvSpPr>
            <p:cNvPr id="315" name="Google Shape;315;p42"/>
            <p:cNvSpPr/>
            <p:nvPr/>
          </p:nvSpPr>
          <p:spPr>
            <a:xfrm>
              <a:off x="-30354000" y="3604550"/>
              <a:ext cx="137875" cy="256000"/>
            </a:xfrm>
            <a:custGeom>
              <a:rect b="b" l="l" r="r" t="t"/>
              <a:pathLst>
                <a:path extrusionOk="0" h="10240" w="5515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lnTo>
                    <a:pt x="1" y="4411"/>
                  </a:lnTo>
                  <a:cubicBezTo>
                    <a:pt x="1" y="4632"/>
                    <a:pt x="64" y="4884"/>
                    <a:pt x="190" y="5073"/>
                  </a:cubicBezTo>
                  <a:lnTo>
                    <a:pt x="1639" y="7467"/>
                  </a:lnTo>
                  <a:cubicBezTo>
                    <a:pt x="1891" y="7877"/>
                    <a:pt x="2049" y="8097"/>
                    <a:pt x="2049" y="8538"/>
                  </a:cubicBezTo>
                  <a:lnTo>
                    <a:pt x="2049" y="9861"/>
                  </a:lnTo>
                  <a:cubicBezTo>
                    <a:pt x="2049" y="10082"/>
                    <a:pt x="2206" y="10239"/>
                    <a:pt x="2395" y="10239"/>
                  </a:cubicBezTo>
                  <a:lnTo>
                    <a:pt x="5514" y="10239"/>
                  </a:lnTo>
                  <a:lnTo>
                    <a:pt x="5514" y="6364"/>
                  </a:lnTo>
                  <a:cubicBezTo>
                    <a:pt x="5514" y="5986"/>
                    <a:pt x="5357" y="5671"/>
                    <a:pt x="5168" y="5419"/>
                  </a:cubicBezTo>
                  <a:cubicBezTo>
                    <a:pt x="5167" y="5420"/>
                    <a:pt x="5165" y="5421"/>
                    <a:pt x="5163" y="5421"/>
                  </a:cubicBezTo>
                  <a:cubicBezTo>
                    <a:pt x="5042" y="5421"/>
                    <a:pt x="3214" y="3623"/>
                    <a:pt x="3183" y="3592"/>
                  </a:cubicBezTo>
                  <a:cubicBezTo>
                    <a:pt x="3041" y="3432"/>
                    <a:pt x="2828" y="3332"/>
                    <a:pt x="2613" y="3332"/>
                  </a:cubicBezTo>
                  <a:cubicBezTo>
                    <a:pt x="2448" y="3332"/>
                    <a:pt x="2280" y="3392"/>
                    <a:pt x="2143" y="3529"/>
                  </a:cubicBezTo>
                  <a:cubicBezTo>
                    <a:pt x="1891" y="3812"/>
                    <a:pt x="1923" y="4285"/>
                    <a:pt x="2112" y="4442"/>
                  </a:cubicBezTo>
                  <a:lnTo>
                    <a:pt x="3970" y="6301"/>
                  </a:lnTo>
                  <a:cubicBezTo>
                    <a:pt x="4097" y="6427"/>
                    <a:pt x="4097" y="6648"/>
                    <a:pt x="3970" y="6774"/>
                  </a:cubicBezTo>
                  <a:cubicBezTo>
                    <a:pt x="3907" y="6821"/>
                    <a:pt x="3821" y="6845"/>
                    <a:pt x="3734" y="6845"/>
                  </a:cubicBezTo>
                  <a:cubicBezTo>
                    <a:pt x="3648" y="6845"/>
                    <a:pt x="3561" y="6821"/>
                    <a:pt x="3498" y="6774"/>
                  </a:cubicBezTo>
                  <a:lnTo>
                    <a:pt x="1639" y="4915"/>
                  </a:lnTo>
                  <a:cubicBezTo>
                    <a:pt x="1450" y="4726"/>
                    <a:pt x="1324" y="4442"/>
                    <a:pt x="1324" y="4190"/>
                  </a:cubicBezTo>
                  <a:lnTo>
                    <a:pt x="1324" y="662"/>
                  </a:lnTo>
                  <a:cubicBezTo>
                    <a:pt x="1324" y="252"/>
                    <a:pt x="1009" y="0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2"/>
            <p:cNvSpPr/>
            <p:nvPr/>
          </p:nvSpPr>
          <p:spPr>
            <a:xfrm>
              <a:off x="-30198825" y="3604550"/>
              <a:ext cx="137075" cy="256775"/>
            </a:xfrm>
            <a:custGeom>
              <a:rect b="b" l="l" r="r" t="t"/>
              <a:pathLst>
                <a:path extrusionOk="0" h="10271" w="5483">
                  <a:moveTo>
                    <a:pt x="4758" y="0"/>
                  </a:moveTo>
                  <a:cubicBezTo>
                    <a:pt x="4380" y="0"/>
                    <a:pt x="4096" y="315"/>
                    <a:pt x="4096" y="662"/>
                  </a:cubicBezTo>
                  <a:lnTo>
                    <a:pt x="4096" y="4190"/>
                  </a:lnTo>
                  <a:cubicBezTo>
                    <a:pt x="4096" y="4474"/>
                    <a:pt x="3970" y="4758"/>
                    <a:pt x="3781" y="4915"/>
                  </a:cubicBezTo>
                  <a:lnTo>
                    <a:pt x="1922" y="6774"/>
                  </a:lnTo>
                  <a:cubicBezTo>
                    <a:pt x="1875" y="6821"/>
                    <a:pt x="1788" y="6845"/>
                    <a:pt x="1698" y="6845"/>
                  </a:cubicBezTo>
                  <a:cubicBezTo>
                    <a:pt x="1607" y="6845"/>
                    <a:pt x="1513" y="6821"/>
                    <a:pt x="1450" y="6774"/>
                  </a:cubicBezTo>
                  <a:cubicBezTo>
                    <a:pt x="1355" y="6648"/>
                    <a:pt x="1355" y="6427"/>
                    <a:pt x="1450" y="6301"/>
                  </a:cubicBezTo>
                  <a:lnTo>
                    <a:pt x="3308" y="4442"/>
                  </a:lnTo>
                  <a:cubicBezTo>
                    <a:pt x="3497" y="4285"/>
                    <a:pt x="3560" y="3812"/>
                    <a:pt x="3277" y="3529"/>
                  </a:cubicBezTo>
                  <a:cubicBezTo>
                    <a:pt x="3140" y="3392"/>
                    <a:pt x="2972" y="3332"/>
                    <a:pt x="2807" y="3332"/>
                  </a:cubicBezTo>
                  <a:cubicBezTo>
                    <a:pt x="2592" y="3332"/>
                    <a:pt x="2379" y="3432"/>
                    <a:pt x="2237" y="3592"/>
                  </a:cubicBezTo>
                  <a:cubicBezTo>
                    <a:pt x="2237" y="3592"/>
                    <a:pt x="347" y="5419"/>
                    <a:pt x="347" y="5482"/>
                  </a:cubicBezTo>
                  <a:cubicBezTo>
                    <a:pt x="158" y="5671"/>
                    <a:pt x="0" y="6018"/>
                    <a:pt x="0" y="6427"/>
                  </a:cubicBezTo>
                  <a:lnTo>
                    <a:pt x="0" y="8129"/>
                  </a:lnTo>
                  <a:lnTo>
                    <a:pt x="0" y="8412"/>
                  </a:lnTo>
                  <a:lnTo>
                    <a:pt x="0" y="10271"/>
                  </a:lnTo>
                  <a:lnTo>
                    <a:pt x="3088" y="10271"/>
                  </a:lnTo>
                  <a:cubicBezTo>
                    <a:pt x="3277" y="10271"/>
                    <a:pt x="3434" y="10113"/>
                    <a:pt x="3434" y="9924"/>
                  </a:cubicBezTo>
                  <a:lnTo>
                    <a:pt x="3434" y="8570"/>
                  </a:lnTo>
                  <a:cubicBezTo>
                    <a:pt x="3434" y="8129"/>
                    <a:pt x="3623" y="7908"/>
                    <a:pt x="3812" y="7530"/>
                  </a:cubicBezTo>
                  <a:lnTo>
                    <a:pt x="5293" y="5104"/>
                  </a:lnTo>
                  <a:cubicBezTo>
                    <a:pt x="5388" y="4915"/>
                    <a:pt x="5482" y="4663"/>
                    <a:pt x="5482" y="4411"/>
                  </a:cubicBezTo>
                  <a:lnTo>
                    <a:pt x="5482" y="662"/>
                  </a:lnTo>
                  <a:cubicBezTo>
                    <a:pt x="5451" y="284"/>
                    <a:pt x="5136" y="0"/>
                    <a:pt x="47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2"/>
            <p:cNvSpPr/>
            <p:nvPr/>
          </p:nvSpPr>
          <p:spPr>
            <a:xfrm>
              <a:off x="-30139750" y="3636850"/>
              <a:ext cx="26000" cy="37825"/>
            </a:xfrm>
            <a:custGeom>
              <a:rect b="b" l="l" r="r" t="t"/>
              <a:pathLst>
                <a:path extrusionOk="0" h="1513" w="1040">
                  <a:moveTo>
                    <a:pt x="504" y="0"/>
                  </a:moveTo>
                  <a:cubicBezTo>
                    <a:pt x="252" y="32"/>
                    <a:pt x="0" y="284"/>
                    <a:pt x="0" y="567"/>
                  </a:cubicBezTo>
                  <a:lnTo>
                    <a:pt x="0" y="1418"/>
                  </a:lnTo>
                  <a:cubicBezTo>
                    <a:pt x="126" y="1386"/>
                    <a:pt x="252" y="1355"/>
                    <a:pt x="410" y="1355"/>
                  </a:cubicBezTo>
                  <a:cubicBezTo>
                    <a:pt x="630" y="1355"/>
                    <a:pt x="819" y="1386"/>
                    <a:pt x="1040" y="1512"/>
                  </a:cubicBezTo>
                  <a:lnTo>
                    <a:pt x="1040" y="504"/>
                  </a:lnTo>
                  <a:cubicBezTo>
                    <a:pt x="1040" y="252"/>
                    <a:pt x="788" y="0"/>
                    <a:pt x="5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2"/>
            <p:cNvSpPr/>
            <p:nvPr/>
          </p:nvSpPr>
          <p:spPr>
            <a:xfrm>
              <a:off x="-30302800" y="3638950"/>
              <a:ext cx="25225" cy="36500"/>
            </a:xfrm>
            <a:custGeom>
              <a:rect b="b" l="l" r="r" t="t"/>
              <a:pathLst>
                <a:path extrusionOk="0" h="1460" w="1009">
                  <a:moveTo>
                    <a:pt x="418" y="1"/>
                  </a:moveTo>
                  <a:cubicBezTo>
                    <a:pt x="177" y="1"/>
                    <a:pt x="1" y="229"/>
                    <a:pt x="1" y="483"/>
                  </a:cubicBezTo>
                  <a:lnTo>
                    <a:pt x="1" y="1460"/>
                  </a:lnTo>
                  <a:cubicBezTo>
                    <a:pt x="190" y="1334"/>
                    <a:pt x="379" y="1302"/>
                    <a:pt x="631" y="1302"/>
                  </a:cubicBezTo>
                  <a:cubicBezTo>
                    <a:pt x="725" y="1302"/>
                    <a:pt x="883" y="1334"/>
                    <a:pt x="1009" y="1365"/>
                  </a:cubicBezTo>
                  <a:lnTo>
                    <a:pt x="1009" y="515"/>
                  </a:lnTo>
                  <a:cubicBezTo>
                    <a:pt x="1009" y="231"/>
                    <a:pt x="788" y="11"/>
                    <a:pt x="505" y="11"/>
                  </a:cubicBezTo>
                  <a:cubicBezTo>
                    <a:pt x="475" y="4"/>
                    <a:pt x="446" y="1"/>
                    <a:pt x="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2"/>
            <p:cNvSpPr/>
            <p:nvPr/>
          </p:nvSpPr>
          <p:spPr>
            <a:xfrm>
              <a:off x="-30242925" y="3569100"/>
              <a:ext cx="68525" cy="68550"/>
            </a:xfrm>
            <a:custGeom>
              <a:rect b="b" l="l" r="r" t="t"/>
              <a:pathLst>
                <a:path extrusionOk="0" h="2742" w="2741">
                  <a:moveTo>
                    <a:pt x="1386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74"/>
                    <a:pt x="630" y="2742"/>
                    <a:pt x="1386" y="2742"/>
                  </a:cubicBezTo>
                  <a:cubicBezTo>
                    <a:pt x="2111" y="2742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2"/>
            <p:cNvSpPr/>
            <p:nvPr/>
          </p:nvSpPr>
          <p:spPr>
            <a:xfrm>
              <a:off x="-30262625" y="3654950"/>
              <a:ext cx="107925" cy="68550"/>
            </a:xfrm>
            <a:custGeom>
              <a:rect b="b" l="l" r="r" t="t"/>
              <a:pathLst>
                <a:path extrusionOk="0" h="2742" w="4317">
                  <a:moveTo>
                    <a:pt x="2174" y="1"/>
                  </a:moveTo>
                  <a:cubicBezTo>
                    <a:pt x="1292" y="1"/>
                    <a:pt x="505" y="379"/>
                    <a:pt x="0" y="1040"/>
                  </a:cubicBezTo>
                  <a:lnTo>
                    <a:pt x="32" y="1103"/>
                  </a:lnTo>
                  <a:cubicBezTo>
                    <a:pt x="946" y="1985"/>
                    <a:pt x="1450" y="2458"/>
                    <a:pt x="1702" y="2742"/>
                  </a:cubicBezTo>
                  <a:lnTo>
                    <a:pt x="2647" y="2742"/>
                  </a:lnTo>
                  <a:lnTo>
                    <a:pt x="4254" y="1135"/>
                  </a:lnTo>
                  <a:lnTo>
                    <a:pt x="4317" y="1040"/>
                  </a:lnTo>
                  <a:cubicBezTo>
                    <a:pt x="3813" y="410"/>
                    <a:pt x="3025" y="1"/>
                    <a:pt x="21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42"/>
          <p:cNvSpPr/>
          <p:nvPr/>
        </p:nvSpPr>
        <p:spPr>
          <a:xfrm>
            <a:off x="5453438" y="2236850"/>
            <a:ext cx="884400" cy="5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flujos de transporte</a:t>
            </a:r>
            <a:endParaRPr/>
          </a:p>
        </p:txBody>
      </p:sp>
      <p:sp>
        <p:nvSpPr>
          <p:cNvPr id="327" name="Google Shape;327;p43"/>
          <p:cNvSpPr/>
          <p:nvPr/>
        </p:nvSpPr>
        <p:spPr>
          <a:xfrm>
            <a:off x="7088957" y="1570876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328" name="Google Shape;328;p43"/>
          <p:cNvGrpSpPr/>
          <p:nvPr/>
        </p:nvGrpSpPr>
        <p:grpSpPr>
          <a:xfrm>
            <a:off x="1471854" y="2029575"/>
            <a:ext cx="904060" cy="1084549"/>
            <a:chOff x="-31817400" y="3910025"/>
            <a:chExt cx="301675" cy="294075"/>
          </a:xfrm>
        </p:grpSpPr>
        <p:sp>
          <p:nvSpPr>
            <p:cNvPr id="329" name="Google Shape;329;p43"/>
            <p:cNvSpPr/>
            <p:nvPr/>
          </p:nvSpPr>
          <p:spPr>
            <a:xfrm>
              <a:off x="-31817400" y="3911550"/>
              <a:ext cx="301675" cy="292550"/>
            </a:xfrm>
            <a:custGeom>
              <a:rect b="b" l="l" r="r" t="t"/>
              <a:pathLst>
                <a:path extrusionOk="0" h="11702" w="12067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3"/>
            <p:cNvSpPr/>
            <p:nvPr/>
          </p:nvSpPr>
          <p:spPr>
            <a:xfrm>
              <a:off x="-31816600" y="4062950"/>
              <a:ext cx="144150" cy="140600"/>
            </a:xfrm>
            <a:custGeom>
              <a:rect b="b" l="l" r="r" t="t"/>
              <a:pathLst>
                <a:path extrusionOk="0" h="5624" w="5766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3"/>
            <p:cNvSpPr/>
            <p:nvPr/>
          </p:nvSpPr>
          <p:spPr>
            <a:xfrm>
              <a:off x="-31648050" y="3910025"/>
              <a:ext cx="129175" cy="127725"/>
            </a:xfrm>
            <a:custGeom>
              <a:rect b="b" l="l" r="r" t="t"/>
              <a:pathLst>
                <a:path extrusionOk="0" h="5109" w="5167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43"/>
          <p:cNvGrpSpPr/>
          <p:nvPr/>
        </p:nvGrpSpPr>
        <p:grpSpPr>
          <a:xfrm>
            <a:off x="4119104" y="2029522"/>
            <a:ext cx="904045" cy="1084538"/>
            <a:chOff x="-40745125" y="3632900"/>
            <a:chExt cx="318225" cy="289875"/>
          </a:xfrm>
        </p:grpSpPr>
        <p:sp>
          <p:nvSpPr>
            <p:cNvPr id="333" name="Google Shape;333;p43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3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3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3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3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3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3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43"/>
          <p:cNvGrpSpPr/>
          <p:nvPr/>
        </p:nvGrpSpPr>
        <p:grpSpPr>
          <a:xfrm>
            <a:off x="6768127" y="2029399"/>
            <a:ext cx="904017" cy="1084535"/>
            <a:chOff x="-30354000" y="3569100"/>
            <a:chExt cx="292250" cy="292225"/>
          </a:xfrm>
        </p:grpSpPr>
        <p:sp>
          <p:nvSpPr>
            <p:cNvPr id="341" name="Google Shape;341;p43"/>
            <p:cNvSpPr/>
            <p:nvPr/>
          </p:nvSpPr>
          <p:spPr>
            <a:xfrm>
              <a:off x="-30354000" y="3604550"/>
              <a:ext cx="137875" cy="256000"/>
            </a:xfrm>
            <a:custGeom>
              <a:rect b="b" l="l" r="r" t="t"/>
              <a:pathLst>
                <a:path extrusionOk="0" h="10240" w="5515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lnTo>
                    <a:pt x="1" y="4411"/>
                  </a:lnTo>
                  <a:cubicBezTo>
                    <a:pt x="1" y="4632"/>
                    <a:pt x="64" y="4884"/>
                    <a:pt x="190" y="5073"/>
                  </a:cubicBezTo>
                  <a:lnTo>
                    <a:pt x="1639" y="7467"/>
                  </a:lnTo>
                  <a:cubicBezTo>
                    <a:pt x="1891" y="7877"/>
                    <a:pt x="2049" y="8097"/>
                    <a:pt x="2049" y="8538"/>
                  </a:cubicBezTo>
                  <a:lnTo>
                    <a:pt x="2049" y="9861"/>
                  </a:lnTo>
                  <a:cubicBezTo>
                    <a:pt x="2049" y="10082"/>
                    <a:pt x="2206" y="10239"/>
                    <a:pt x="2395" y="10239"/>
                  </a:cubicBezTo>
                  <a:lnTo>
                    <a:pt x="5514" y="10239"/>
                  </a:lnTo>
                  <a:lnTo>
                    <a:pt x="5514" y="6364"/>
                  </a:lnTo>
                  <a:cubicBezTo>
                    <a:pt x="5514" y="5986"/>
                    <a:pt x="5357" y="5671"/>
                    <a:pt x="5168" y="5419"/>
                  </a:cubicBezTo>
                  <a:cubicBezTo>
                    <a:pt x="5167" y="5420"/>
                    <a:pt x="5165" y="5421"/>
                    <a:pt x="5163" y="5421"/>
                  </a:cubicBezTo>
                  <a:cubicBezTo>
                    <a:pt x="5042" y="5421"/>
                    <a:pt x="3214" y="3623"/>
                    <a:pt x="3183" y="3592"/>
                  </a:cubicBezTo>
                  <a:cubicBezTo>
                    <a:pt x="3041" y="3432"/>
                    <a:pt x="2828" y="3332"/>
                    <a:pt x="2613" y="3332"/>
                  </a:cubicBezTo>
                  <a:cubicBezTo>
                    <a:pt x="2448" y="3332"/>
                    <a:pt x="2280" y="3392"/>
                    <a:pt x="2143" y="3529"/>
                  </a:cubicBezTo>
                  <a:cubicBezTo>
                    <a:pt x="1891" y="3812"/>
                    <a:pt x="1923" y="4285"/>
                    <a:pt x="2112" y="4442"/>
                  </a:cubicBezTo>
                  <a:lnTo>
                    <a:pt x="3970" y="6301"/>
                  </a:lnTo>
                  <a:cubicBezTo>
                    <a:pt x="4097" y="6427"/>
                    <a:pt x="4097" y="6648"/>
                    <a:pt x="3970" y="6774"/>
                  </a:cubicBezTo>
                  <a:cubicBezTo>
                    <a:pt x="3907" y="6821"/>
                    <a:pt x="3821" y="6845"/>
                    <a:pt x="3734" y="6845"/>
                  </a:cubicBezTo>
                  <a:cubicBezTo>
                    <a:pt x="3648" y="6845"/>
                    <a:pt x="3561" y="6821"/>
                    <a:pt x="3498" y="6774"/>
                  </a:cubicBezTo>
                  <a:lnTo>
                    <a:pt x="1639" y="4915"/>
                  </a:lnTo>
                  <a:cubicBezTo>
                    <a:pt x="1450" y="4726"/>
                    <a:pt x="1324" y="4442"/>
                    <a:pt x="1324" y="4190"/>
                  </a:cubicBezTo>
                  <a:lnTo>
                    <a:pt x="1324" y="662"/>
                  </a:lnTo>
                  <a:cubicBezTo>
                    <a:pt x="1324" y="252"/>
                    <a:pt x="1009" y="0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3"/>
            <p:cNvSpPr/>
            <p:nvPr/>
          </p:nvSpPr>
          <p:spPr>
            <a:xfrm>
              <a:off x="-30198825" y="3604550"/>
              <a:ext cx="137075" cy="256775"/>
            </a:xfrm>
            <a:custGeom>
              <a:rect b="b" l="l" r="r" t="t"/>
              <a:pathLst>
                <a:path extrusionOk="0" h="10271" w="5483">
                  <a:moveTo>
                    <a:pt x="4758" y="0"/>
                  </a:moveTo>
                  <a:cubicBezTo>
                    <a:pt x="4380" y="0"/>
                    <a:pt x="4096" y="315"/>
                    <a:pt x="4096" y="662"/>
                  </a:cubicBezTo>
                  <a:lnTo>
                    <a:pt x="4096" y="4190"/>
                  </a:lnTo>
                  <a:cubicBezTo>
                    <a:pt x="4096" y="4474"/>
                    <a:pt x="3970" y="4758"/>
                    <a:pt x="3781" y="4915"/>
                  </a:cubicBezTo>
                  <a:lnTo>
                    <a:pt x="1922" y="6774"/>
                  </a:lnTo>
                  <a:cubicBezTo>
                    <a:pt x="1875" y="6821"/>
                    <a:pt x="1788" y="6845"/>
                    <a:pt x="1698" y="6845"/>
                  </a:cubicBezTo>
                  <a:cubicBezTo>
                    <a:pt x="1607" y="6845"/>
                    <a:pt x="1513" y="6821"/>
                    <a:pt x="1450" y="6774"/>
                  </a:cubicBezTo>
                  <a:cubicBezTo>
                    <a:pt x="1355" y="6648"/>
                    <a:pt x="1355" y="6427"/>
                    <a:pt x="1450" y="6301"/>
                  </a:cubicBezTo>
                  <a:lnTo>
                    <a:pt x="3308" y="4442"/>
                  </a:lnTo>
                  <a:cubicBezTo>
                    <a:pt x="3497" y="4285"/>
                    <a:pt x="3560" y="3812"/>
                    <a:pt x="3277" y="3529"/>
                  </a:cubicBezTo>
                  <a:cubicBezTo>
                    <a:pt x="3140" y="3392"/>
                    <a:pt x="2972" y="3332"/>
                    <a:pt x="2807" y="3332"/>
                  </a:cubicBezTo>
                  <a:cubicBezTo>
                    <a:pt x="2592" y="3332"/>
                    <a:pt x="2379" y="3432"/>
                    <a:pt x="2237" y="3592"/>
                  </a:cubicBezTo>
                  <a:cubicBezTo>
                    <a:pt x="2237" y="3592"/>
                    <a:pt x="347" y="5419"/>
                    <a:pt x="347" y="5482"/>
                  </a:cubicBezTo>
                  <a:cubicBezTo>
                    <a:pt x="158" y="5671"/>
                    <a:pt x="0" y="6018"/>
                    <a:pt x="0" y="6427"/>
                  </a:cubicBezTo>
                  <a:lnTo>
                    <a:pt x="0" y="8129"/>
                  </a:lnTo>
                  <a:lnTo>
                    <a:pt x="0" y="8412"/>
                  </a:lnTo>
                  <a:lnTo>
                    <a:pt x="0" y="10271"/>
                  </a:lnTo>
                  <a:lnTo>
                    <a:pt x="3088" y="10271"/>
                  </a:lnTo>
                  <a:cubicBezTo>
                    <a:pt x="3277" y="10271"/>
                    <a:pt x="3434" y="10113"/>
                    <a:pt x="3434" y="9924"/>
                  </a:cubicBezTo>
                  <a:lnTo>
                    <a:pt x="3434" y="8570"/>
                  </a:lnTo>
                  <a:cubicBezTo>
                    <a:pt x="3434" y="8129"/>
                    <a:pt x="3623" y="7908"/>
                    <a:pt x="3812" y="7530"/>
                  </a:cubicBezTo>
                  <a:lnTo>
                    <a:pt x="5293" y="5104"/>
                  </a:lnTo>
                  <a:cubicBezTo>
                    <a:pt x="5388" y="4915"/>
                    <a:pt x="5482" y="4663"/>
                    <a:pt x="5482" y="4411"/>
                  </a:cubicBezTo>
                  <a:lnTo>
                    <a:pt x="5482" y="662"/>
                  </a:lnTo>
                  <a:cubicBezTo>
                    <a:pt x="5451" y="284"/>
                    <a:pt x="5136" y="0"/>
                    <a:pt x="47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3"/>
            <p:cNvSpPr/>
            <p:nvPr/>
          </p:nvSpPr>
          <p:spPr>
            <a:xfrm>
              <a:off x="-30139750" y="3636850"/>
              <a:ext cx="26000" cy="37825"/>
            </a:xfrm>
            <a:custGeom>
              <a:rect b="b" l="l" r="r" t="t"/>
              <a:pathLst>
                <a:path extrusionOk="0" h="1513" w="1040">
                  <a:moveTo>
                    <a:pt x="504" y="0"/>
                  </a:moveTo>
                  <a:cubicBezTo>
                    <a:pt x="252" y="32"/>
                    <a:pt x="0" y="284"/>
                    <a:pt x="0" y="567"/>
                  </a:cubicBezTo>
                  <a:lnTo>
                    <a:pt x="0" y="1418"/>
                  </a:lnTo>
                  <a:cubicBezTo>
                    <a:pt x="126" y="1386"/>
                    <a:pt x="252" y="1355"/>
                    <a:pt x="410" y="1355"/>
                  </a:cubicBezTo>
                  <a:cubicBezTo>
                    <a:pt x="630" y="1355"/>
                    <a:pt x="819" y="1386"/>
                    <a:pt x="1040" y="1512"/>
                  </a:cubicBezTo>
                  <a:lnTo>
                    <a:pt x="1040" y="504"/>
                  </a:lnTo>
                  <a:cubicBezTo>
                    <a:pt x="1040" y="252"/>
                    <a:pt x="788" y="0"/>
                    <a:pt x="5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3"/>
            <p:cNvSpPr/>
            <p:nvPr/>
          </p:nvSpPr>
          <p:spPr>
            <a:xfrm>
              <a:off x="-30302800" y="3638950"/>
              <a:ext cx="25225" cy="36500"/>
            </a:xfrm>
            <a:custGeom>
              <a:rect b="b" l="l" r="r" t="t"/>
              <a:pathLst>
                <a:path extrusionOk="0" h="1460" w="1009">
                  <a:moveTo>
                    <a:pt x="418" y="1"/>
                  </a:moveTo>
                  <a:cubicBezTo>
                    <a:pt x="177" y="1"/>
                    <a:pt x="1" y="229"/>
                    <a:pt x="1" y="483"/>
                  </a:cubicBezTo>
                  <a:lnTo>
                    <a:pt x="1" y="1460"/>
                  </a:lnTo>
                  <a:cubicBezTo>
                    <a:pt x="190" y="1334"/>
                    <a:pt x="379" y="1302"/>
                    <a:pt x="631" y="1302"/>
                  </a:cubicBezTo>
                  <a:cubicBezTo>
                    <a:pt x="725" y="1302"/>
                    <a:pt x="883" y="1334"/>
                    <a:pt x="1009" y="1365"/>
                  </a:cubicBezTo>
                  <a:lnTo>
                    <a:pt x="1009" y="515"/>
                  </a:lnTo>
                  <a:cubicBezTo>
                    <a:pt x="1009" y="231"/>
                    <a:pt x="788" y="11"/>
                    <a:pt x="505" y="11"/>
                  </a:cubicBezTo>
                  <a:cubicBezTo>
                    <a:pt x="475" y="4"/>
                    <a:pt x="446" y="1"/>
                    <a:pt x="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3"/>
            <p:cNvSpPr/>
            <p:nvPr/>
          </p:nvSpPr>
          <p:spPr>
            <a:xfrm>
              <a:off x="-30242925" y="3569100"/>
              <a:ext cx="68525" cy="68550"/>
            </a:xfrm>
            <a:custGeom>
              <a:rect b="b" l="l" r="r" t="t"/>
              <a:pathLst>
                <a:path extrusionOk="0" h="2742" w="2741">
                  <a:moveTo>
                    <a:pt x="1386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74"/>
                    <a:pt x="630" y="2742"/>
                    <a:pt x="1386" y="2742"/>
                  </a:cubicBezTo>
                  <a:cubicBezTo>
                    <a:pt x="2111" y="2742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3"/>
            <p:cNvSpPr/>
            <p:nvPr/>
          </p:nvSpPr>
          <p:spPr>
            <a:xfrm>
              <a:off x="-30262625" y="3654950"/>
              <a:ext cx="107925" cy="68550"/>
            </a:xfrm>
            <a:custGeom>
              <a:rect b="b" l="l" r="r" t="t"/>
              <a:pathLst>
                <a:path extrusionOk="0" h="2742" w="4317">
                  <a:moveTo>
                    <a:pt x="2174" y="1"/>
                  </a:moveTo>
                  <a:cubicBezTo>
                    <a:pt x="1292" y="1"/>
                    <a:pt x="505" y="379"/>
                    <a:pt x="0" y="1040"/>
                  </a:cubicBezTo>
                  <a:lnTo>
                    <a:pt x="32" y="1103"/>
                  </a:lnTo>
                  <a:cubicBezTo>
                    <a:pt x="946" y="1985"/>
                    <a:pt x="1450" y="2458"/>
                    <a:pt x="1702" y="2742"/>
                  </a:cubicBezTo>
                  <a:lnTo>
                    <a:pt x="2647" y="2742"/>
                  </a:lnTo>
                  <a:lnTo>
                    <a:pt x="4254" y="1135"/>
                  </a:lnTo>
                  <a:lnTo>
                    <a:pt x="4317" y="1040"/>
                  </a:lnTo>
                  <a:cubicBezTo>
                    <a:pt x="3813" y="410"/>
                    <a:pt x="3025" y="1"/>
                    <a:pt x="21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43"/>
          <p:cNvSpPr/>
          <p:nvPr/>
        </p:nvSpPr>
        <p:spPr>
          <a:xfrm>
            <a:off x="2762450" y="2236850"/>
            <a:ext cx="884400" cy="5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3"/>
          <p:cNvSpPr/>
          <p:nvPr/>
        </p:nvSpPr>
        <p:spPr>
          <a:xfrm>
            <a:off x="5453438" y="2236850"/>
            <a:ext cx="884400" cy="5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flujos de transporte</a:t>
            </a:r>
            <a:endParaRPr/>
          </a:p>
        </p:txBody>
      </p:sp>
      <p:sp>
        <p:nvSpPr>
          <p:cNvPr id="354" name="Google Shape;354;p44"/>
          <p:cNvSpPr/>
          <p:nvPr/>
        </p:nvSpPr>
        <p:spPr>
          <a:xfrm>
            <a:off x="7088957" y="1570876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355" name="Google Shape;355;p44"/>
          <p:cNvGrpSpPr/>
          <p:nvPr/>
        </p:nvGrpSpPr>
        <p:grpSpPr>
          <a:xfrm>
            <a:off x="1471854" y="2029575"/>
            <a:ext cx="904060" cy="1084549"/>
            <a:chOff x="-31817400" y="3910025"/>
            <a:chExt cx="301675" cy="294075"/>
          </a:xfrm>
        </p:grpSpPr>
        <p:sp>
          <p:nvSpPr>
            <p:cNvPr id="356" name="Google Shape;356;p44"/>
            <p:cNvSpPr/>
            <p:nvPr/>
          </p:nvSpPr>
          <p:spPr>
            <a:xfrm>
              <a:off x="-31817400" y="3911550"/>
              <a:ext cx="301675" cy="292550"/>
            </a:xfrm>
            <a:custGeom>
              <a:rect b="b" l="l" r="r" t="t"/>
              <a:pathLst>
                <a:path extrusionOk="0" h="11702" w="12067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-31816600" y="4062950"/>
              <a:ext cx="144150" cy="140600"/>
            </a:xfrm>
            <a:custGeom>
              <a:rect b="b" l="l" r="r" t="t"/>
              <a:pathLst>
                <a:path extrusionOk="0" h="5624" w="5766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-31648050" y="3910025"/>
              <a:ext cx="129175" cy="127725"/>
            </a:xfrm>
            <a:custGeom>
              <a:rect b="b" l="l" r="r" t="t"/>
              <a:pathLst>
                <a:path extrusionOk="0" h="5109" w="5167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9" name="Google Shape;359;p44"/>
          <p:cNvGrpSpPr/>
          <p:nvPr/>
        </p:nvGrpSpPr>
        <p:grpSpPr>
          <a:xfrm>
            <a:off x="4119104" y="2029522"/>
            <a:ext cx="904045" cy="1084538"/>
            <a:chOff x="-40745125" y="3632900"/>
            <a:chExt cx="318225" cy="289875"/>
          </a:xfrm>
        </p:grpSpPr>
        <p:sp>
          <p:nvSpPr>
            <p:cNvPr id="360" name="Google Shape;360;p44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44"/>
          <p:cNvGrpSpPr/>
          <p:nvPr/>
        </p:nvGrpSpPr>
        <p:grpSpPr>
          <a:xfrm>
            <a:off x="6768127" y="2029399"/>
            <a:ext cx="904017" cy="1084535"/>
            <a:chOff x="-30354000" y="3569100"/>
            <a:chExt cx="292250" cy="292225"/>
          </a:xfrm>
        </p:grpSpPr>
        <p:sp>
          <p:nvSpPr>
            <p:cNvPr id="368" name="Google Shape;368;p44"/>
            <p:cNvSpPr/>
            <p:nvPr/>
          </p:nvSpPr>
          <p:spPr>
            <a:xfrm>
              <a:off x="-30354000" y="3604550"/>
              <a:ext cx="137875" cy="256000"/>
            </a:xfrm>
            <a:custGeom>
              <a:rect b="b" l="l" r="r" t="t"/>
              <a:pathLst>
                <a:path extrusionOk="0" h="10240" w="5515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lnTo>
                    <a:pt x="1" y="4411"/>
                  </a:lnTo>
                  <a:cubicBezTo>
                    <a:pt x="1" y="4632"/>
                    <a:pt x="64" y="4884"/>
                    <a:pt x="190" y="5073"/>
                  </a:cubicBezTo>
                  <a:lnTo>
                    <a:pt x="1639" y="7467"/>
                  </a:lnTo>
                  <a:cubicBezTo>
                    <a:pt x="1891" y="7877"/>
                    <a:pt x="2049" y="8097"/>
                    <a:pt x="2049" y="8538"/>
                  </a:cubicBezTo>
                  <a:lnTo>
                    <a:pt x="2049" y="9861"/>
                  </a:lnTo>
                  <a:cubicBezTo>
                    <a:pt x="2049" y="10082"/>
                    <a:pt x="2206" y="10239"/>
                    <a:pt x="2395" y="10239"/>
                  </a:cubicBezTo>
                  <a:lnTo>
                    <a:pt x="5514" y="10239"/>
                  </a:lnTo>
                  <a:lnTo>
                    <a:pt x="5514" y="6364"/>
                  </a:lnTo>
                  <a:cubicBezTo>
                    <a:pt x="5514" y="5986"/>
                    <a:pt x="5357" y="5671"/>
                    <a:pt x="5168" y="5419"/>
                  </a:cubicBezTo>
                  <a:cubicBezTo>
                    <a:pt x="5167" y="5420"/>
                    <a:pt x="5165" y="5421"/>
                    <a:pt x="5163" y="5421"/>
                  </a:cubicBezTo>
                  <a:cubicBezTo>
                    <a:pt x="5042" y="5421"/>
                    <a:pt x="3214" y="3623"/>
                    <a:pt x="3183" y="3592"/>
                  </a:cubicBezTo>
                  <a:cubicBezTo>
                    <a:pt x="3041" y="3432"/>
                    <a:pt x="2828" y="3332"/>
                    <a:pt x="2613" y="3332"/>
                  </a:cubicBezTo>
                  <a:cubicBezTo>
                    <a:pt x="2448" y="3332"/>
                    <a:pt x="2280" y="3392"/>
                    <a:pt x="2143" y="3529"/>
                  </a:cubicBezTo>
                  <a:cubicBezTo>
                    <a:pt x="1891" y="3812"/>
                    <a:pt x="1923" y="4285"/>
                    <a:pt x="2112" y="4442"/>
                  </a:cubicBezTo>
                  <a:lnTo>
                    <a:pt x="3970" y="6301"/>
                  </a:lnTo>
                  <a:cubicBezTo>
                    <a:pt x="4097" y="6427"/>
                    <a:pt x="4097" y="6648"/>
                    <a:pt x="3970" y="6774"/>
                  </a:cubicBezTo>
                  <a:cubicBezTo>
                    <a:pt x="3907" y="6821"/>
                    <a:pt x="3821" y="6845"/>
                    <a:pt x="3734" y="6845"/>
                  </a:cubicBezTo>
                  <a:cubicBezTo>
                    <a:pt x="3648" y="6845"/>
                    <a:pt x="3561" y="6821"/>
                    <a:pt x="3498" y="6774"/>
                  </a:cubicBezTo>
                  <a:lnTo>
                    <a:pt x="1639" y="4915"/>
                  </a:lnTo>
                  <a:cubicBezTo>
                    <a:pt x="1450" y="4726"/>
                    <a:pt x="1324" y="4442"/>
                    <a:pt x="1324" y="4190"/>
                  </a:cubicBezTo>
                  <a:lnTo>
                    <a:pt x="1324" y="662"/>
                  </a:lnTo>
                  <a:cubicBezTo>
                    <a:pt x="1324" y="252"/>
                    <a:pt x="1009" y="0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-30198825" y="3604550"/>
              <a:ext cx="137075" cy="256775"/>
            </a:xfrm>
            <a:custGeom>
              <a:rect b="b" l="l" r="r" t="t"/>
              <a:pathLst>
                <a:path extrusionOk="0" h="10271" w="5483">
                  <a:moveTo>
                    <a:pt x="4758" y="0"/>
                  </a:moveTo>
                  <a:cubicBezTo>
                    <a:pt x="4380" y="0"/>
                    <a:pt x="4096" y="315"/>
                    <a:pt x="4096" y="662"/>
                  </a:cubicBezTo>
                  <a:lnTo>
                    <a:pt x="4096" y="4190"/>
                  </a:lnTo>
                  <a:cubicBezTo>
                    <a:pt x="4096" y="4474"/>
                    <a:pt x="3970" y="4758"/>
                    <a:pt x="3781" y="4915"/>
                  </a:cubicBezTo>
                  <a:lnTo>
                    <a:pt x="1922" y="6774"/>
                  </a:lnTo>
                  <a:cubicBezTo>
                    <a:pt x="1875" y="6821"/>
                    <a:pt x="1788" y="6845"/>
                    <a:pt x="1698" y="6845"/>
                  </a:cubicBezTo>
                  <a:cubicBezTo>
                    <a:pt x="1607" y="6845"/>
                    <a:pt x="1513" y="6821"/>
                    <a:pt x="1450" y="6774"/>
                  </a:cubicBezTo>
                  <a:cubicBezTo>
                    <a:pt x="1355" y="6648"/>
                    <a:pt x="1355" y="6427"/>
                    <a:pt x="1450" y="6301"/>
                  </a:cubicBezTo>
                  <a:lnTo>
                    <a:pt x="3308" y="4442"/>
                  </a:lnTo>
                  <a:cubicBezTo>
                    <a:pt x="3497" y="4285"/>
                    <a:pt x="3560" y="3812"/>
                    <a:pt x="3277" y="3529"/>
                  </a:cubicBezTo>
                  <a:cubicBezTo>
                    <a:pt x="3140" y="3392"/>
                    <a:pt x="2972" y="3332"/>
                    <a:pt x="2807" y="3332"/>
                  </a:cubicBezTo>
                  <a:cubicBezTo>
                    <a:pt x="2592" y="3332"/>
                    <a:pt x="2379" y="3432"/>
                    <a:pt x="2237" y="3592"/>
                  </a:cubicBezTo>
                  <a:cubicBezTo>
                    <a:pt x="2237" y="3592"/>
                    <a:pt x="347" y="5419"/>
                    <a:pt x="347" y="5482"/>
                  </a:cubicBezTo>
                  <a:cubicBezTo>
                    <a:pt x="158" y="5671"/>
                    <a:pt x="0" y="6018"/>
                    <a:pt x="0" y="6427"/>
                  </a:cubicBezTo>
                  <a:lnTo>
                    <a:pt x="0" y="8129"/>
                  </a:lnTo>
                  <a:lnTo>
                    <a:pt x="0" y="8412"/>
                  </a:lnTo>
                  <a:lnTo>
                    <a:pt x="0" y="10271"/>
                  </a:lnTo>
                  <a:lnTo>
                    <a:pt x="3088" y="10271"/>
                  </a:lnTo>
                  <a:cubicBezTo>
                    <a:pt x="3277" y="10271"/>
                    <a:pt x="3434" y="10113"/>
                    <a:pt x="3434" y="9924"/>
                  </a:cubicBezTo>
                  <a:lnTo>
                    <a:pt x="3434" y="8570"/>
                  </a:lnTo>
                  <a:cubicBezTo>
                    <a:pt x="3434" y="8129"/>
                    <a:pt x="3623" y="7908"/>
                    <a:pt x="3812" y="7530"/>
                  </a:cubicBezTo>
                  <a:lnTo>
                    <a:pt x="5293" y="5104"/>
                  </a:lnTo>
                  <a:cubicBezTo>
                    <a:pt x="5388" y="4915"/>
                    <a:pt x="5482" y="4663"/>
                    <a:pt x="5482" y="4411"/>
                  </a:cubicBezTo>
                  <a:lnTo>
                    <a:pt x="5482" y="662"/>
                  </a:lnTo>
                  <a:cubicBezTo>
                    <a:pt x="5451" y="284"/>
                    <a:pt x="5136" y="0"/>
                    <a:pt x="47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-30139750" y="3636850"/>
              <a:ext cx="26000" cy="37825"/>
            </a:xfrm>
            <a:custGeom>
              <a:rect b="b" l="l" r="r" t="t"/>
              <a:pathLst>
                <a:path extrusionOk="0" h="1513" w="1040">
                  <a:moveTo>
                    <a:pt x="504" y="0"/>
                  </a:moveTo>
                  <a:cubicBezTo>
                    <a:pt x="252" y="32"/>
                    <a:pt x="0" y="284"/>
                    <a:pt x="0" y="567"/>
                  </a:cubicBezTo>
                  <a:lnTo>
                    <a:pt x="0" y="1418"/>
                  </a:lnTo>
                  <a:cubicBezTo>
                    <a:pt x="126" y="1386"/>
                    <a:pt x="252" y="1355"/>
                    <a:pt x="410" y="1355"/>
                  </a:cubicBezTo>
                  <a:cubicBezTo>
                    <a:pt x="630" y="1355"/>
                    <a:pt x="819" y="1386"/>
                    <a:pt x="1040" y="1512"/>
                  </a:cubicBezTo>
                  <a:lnTo>
                    <a:pt x="1040" y="504"/>
                  </a:lnTo>
                  <a:cubicBezTo>
                    <a:pt x="1040" y="252"/>
                    <a:pt x="788" y="0"/>
                    <a:pt x="5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-30302800" y="3638950"/>
              <a:ext cx="25225" cy="36500"/>
            </a:xfrm>
            <a:custGeom>
              <a:rect b="b" l="l" r="r" t="t"/>
              <a:pathLst>
                <a:path extrusionOk="0" h="1460" w="1009">
                  <a:moveTo>
                    <a:pt x="418" y="1"/>
                  </a:moveTo>
                  <a:cubicBezTo>
                    <a:pt x="177" y="1"/>
                    <a:pt x="1" y="229"/>
                    <a:pt x="1" y="483"/>
                  </a:cubicBezTo>
                  <a:lnTo>
                    <a:pt x="1" y="1460"/>
                  </a:lnTo>
                  <a:cubicBezTo>
                    <a:pt x="190" y="1334"/>
                    <a:pt x="379" y="1302"/>
                    <a:pt x="631" y="1302"/>
                  </a:cubicBezTo>
                  <a:cubicBezTo>
                    <a:pt x="725" y="1302"/>
                    <a:pt x="883" y="1334"/>
                    <a:pt x="1009" y="1365"/>
                  </a:cubicBezTo>
                  <a:lnTo>
                    <a:pt x="1009" y="515"/>
                  </a:lnTo>
                  <a:cubicBezTo>
                    <a:pt x="1009" y="231"/>
                    <a:pt x="788" y="11"/>
                    <a:pt x="505" y="11"/>
                  </a:cubicBezTo>
                  <a:cubicBezTo>
                    <a:pt x="475" y="4"/>
                    <a:pt x="446" y="1"/>
                    <a:pt x="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-30242925" y="3569100"/>
              <a:ext cx="68525" cy="68550"/>
            </a:xfrm>
            <a:custGeom>
              <a:rect b="b" l="l" r="r" t="t"/>
              <a:pathLst>
                <a:path extrusionOk="0" h="2742" w="2741">
                  <a:moveTo>
                    <a:pt x="1386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74"/>
                    <a:pt x="630" y="2742"/>
                    <a:pt x="1386" y="2742"/>
                  </a:cubicBezTo>
                  <a:cubicBezTo>
                    <a:pt x="2111" y="2742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-30262625" y="3654950"/>
              <a:ext cx="107925" cy="68550"/>
            </a:xfrm>
            <a:custGeom>
              <a:rect b="b" l="l" r="r" t="t"/>
              <a:pathLst>
                <a:path extrusionOk="0" h="2742" w="4317">
                  <a:moveTo>
                    <a:pt x="2174" y="1"/>
                  </a:moveTo>
                  <a:cubicBezTo>
                    <a:pt x="1292" y="1"/>
                    <a:pt x="505" y="379"/>
                    <a:pt x="0" y="1040"/>
                  </a:cubicBezTo>
                  <a:lnTo>
                    <a:pt x="32" y="1103"/>
                  </a:lnTo>
                  <a:cubicBezTo>
                    <a:pt x="946" y="1985"/>
                    <a:pt x="1450" y="2458"/>
                    <a:pt x="1702" y="2742"/>
                  </a:cubicBezTo>
                  <a:lnTo>
                    <a:pt x="2647" y="2742"/>
                  </a:lnTo>
                  <a:lnTo>
                    <a:pt x="4254" y="1135"/>
                  </a:lnTo>
                  <a:lnTo>
                    <a:pt x="4317" y="1040"/>
                  </a:lnTo>
                  <a:cubicBezTo>
                    <a:pt x="3813" y="410"/>
                    <a:pt x="3025" y="1"/>
                    <a:pt x="21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44"/>
          <p:cNvSpPr/>
          <p:nvPr/>
        </p:nvSpPr>
        <p:spPr>
          <a:xfrm>
            <a:off x="2762450" y="2236850"/>
            <a:ext cx="884400" cy="5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44"/>
          <p:cNvSpPr/>
          <p:nvPr/>
        </p:nvSpPr>
        <p:spPr>
          <a:xfrm>
            <a:off x="5453438" y="2236850"/>
            <a:ext cx="884400" cy="5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44"/>
          <p:cNvSpPr/>
          <p:nvPr/>
        </p:nvSpPr>
        <p:spPr>
          <a:xfrm>
            <a:off x="1849150" y="3256625"/>
            <a:ext cx="5573400" cy="961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costes integrados</a:t>
            </a:r>
            <a:endParaRPr/>
          </a:p>
        </p:txBody>
      </p:sp>
      <p:sp>
        <p:nvSpPr>
          <p:cNvPr id="382" name="Google Shape;382;p45"/>
          <p:cNvSpPr/>
          <p:nvPr/>
        </p:nvSpPr>
        <p:spPr>
          <a:xfrm>
            <a:off x="7088957" y="1570876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383" name="Google Shape;383;p45"/>
          <p:cNvGrpSpPr/>
          <p:nvPr/>
        </p:nvGrpSpPr>
        <p:grpSpPr>
          <a:xfrm>
            <a:off x="7035425" y="770641"/>
            <a:ext cx="844109" cy="895672"/>
            <a:chOff x="1492673" y="2620775"/>
            <a:chExt cx="481825" cy="436275"/>
          </a:xfrm>
        </p:grpSpPr>
        <p:sp>
          <p:nvSpPr>
            <p:cNvPr id="384" name="Google Shape;384;p45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5" name="Google Shape;385;p45"/>
            <p:cNvSpPr/>
            <p:nvPr/>
          </p:nvSpPr>
          <p:spPr>
            <a:xfrm>
              <a:off x="1492673" y="2734674"/>
              <a:ext cx="481825" cy="322376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/>
          <p:nvPr>
            <p:ph idx="5" type="subTitle"/>
          </p:nvPr>
        </p:nvSpPr>
        <p:spPr>
          <a:xfrm>
            <a:off x="657413" y="1356300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Accesibilidad</a:t>
            </a:r>
            <a:endParaRPr/>
          </a:p>
        </p:txBody>
      </p:sp>
      <p:sp>
        <p:nvSpPr>
          <p:cNvPr id="391" name="Google Shape;391;p4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costes integrados</a:t>
            </a:r>
            <a:endParaRPr/>
          </a:p>
        </p:txBody>
      </p:sp>
      <p:sp>
        <p:nvSpPr>
          <p:cNvPr id="392" name="Google Shape;392;p46"/>
          <p:cNvSpPr/>
          <p:nvPr/>
        </p:nvSpPr>
        <p:spPr>
          <a:xfrm>
            <a:off x="7088957" y="1570876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pic>
        <p:nvPicPr>
          <p:cNvPr id="393" name="Google Shape;39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12" y="1812325"/>
            <a:ext cx="2211224" cy="1759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46"/>
          <p:cNvGrpSpPr/>
          <p:nvPr/>
        </p:nvGrpSpPr>
        <p:grpSpPr>
          <a:xfrm>
            <a:off x="7035425" y="770641"/>
            <a:ext cx="844109" cy="895672"/>
            <a:chOff x="1492673" y="2620775"/>
            <a:chExt cx="481825" cy="436275"/>
          </a:xfrm>
        </p:grpSpPr>
        <p:sp>
          <p:nvSpPr>
            <p:cNvPr id="395" name="Google Shape;395;p46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1492673" y="2734674"/>
              <a:ext cx="481825" cy="322376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7"/>
          <p:cNvSpPr txBox="1"/>
          <p:nvPr>
            <p:ph idx="1" type="subTitle"/>
          </p:nvPr>
        </p:nvSpPr>
        <p:spPr>
          <a:xfrm>
            <a:off x="3403800" y="1812325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Seguridad</a:t>
            </a:r>
            <a:endParaRPr/>
          </a:p>
        </p:txBody>
      </p:sp>
      <p:sp>
        <p:nvSpPr>
          <p:cNvPr id="402" name="Google Shape;402;p47"/>
          <p:cNvSpPr txBox="1"/>
          <p:nvPr>
            <p:ph idx="5" type="subTitle"/>
          </p:nvPr>
        </p:nvSpPr>
        <p:spPr>
          <a:xfrm>
            <a:off x="657413" y="1356300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Accesibilidad</a:t>
            </a:r>
            <a:endParaRPr/>
          </a:p>
        </p:txBody>
      </p:sp>
      <p:sp>
        <p:nvSpPr>
          <p:cNvPr id="403" name="Google Shape;403;p4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costes integrados</a:t>
            </a:r>
            <a:endParaRPr/>
          </a:p>
        </p:txBody>
      </p:sp>
      <p:sp>
        <p:nvSpPr>
          <p:cNvPr id="404" name="Google Shape;404;p47"/>
          <p:cNvSpPr/>
          <p:nvPr/>
        </p:nvSpPr>
        <p:spPr>
          <a:xfrm>
            <a:off x="7088957" y="1570876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405" name="Google Shape;405;p47"/>
          <p:cNvSpPr/>
          <p:nvPr/>
        </p:nvSpPr>
        <p:spPr>
          <a:xfrm>
            <a:off x="4424692" y="2706298"/>
            <a:ext cx="339253" cy="318060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pic>
        <p:nvPicPr>
          <p:cNvPr id="406" name="Google Shape;406;p47" title="pkd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6250" y="2300425"/>
            <a:ext cx="2956126" cy="16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12" y="1812325"/>
            <a:ext cx="2211224" cy="1759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" name="Google Shape;408;p47"/>
          <p:cNvGrpSpPr/>
          <p:nvPr/>
        </p:nvGrpSpPr>
        <p:grpSpPr>
          <a:xfrm>
            <a:off x="7035425" y="770641"/>
            <a:ext cx="844109" cy="895672"/>
            <a:chOff x="1492673" y="2620775"/>
            <a:chExt cx="481825" cy="436275"/>
          </a:xfrm>
        </p:grpSpPr>
        <p:sp>
          <p:nvSpPr>
            <p:cNvPr id="409" name="Google Shape;409;p47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0" name="Google Shape;410;p47"/>
            <p:cNvSpPr/>
            <p:nvPr/>
          </p:nvSpPr>
          <p:spPr>
            <a:xfrm>
              <a:off x="1492673" y="2734674"/>
              <a:ext cx="481825" cy="322376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idx="1" type="subTitle"/>
          </p:nvPr>
        </p:nvSpPr>
        <p:spPr>
          <a:xfrm>
            <a:off x="3403800" y="1812325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Seguridad</a:t>
            </a:r>
            <a:endParaRPr/>
          </a:p>
        </p:txBody>
      </p:sp>
      <p:sp>
        <p:nvSpPr>
          <p:cNvPr id="416" name="Google Shape;416;p48"/>
          <p:cNvSpPr txBox="1"/>
          <p:nvPr>
            <p:ph idx="5" type="subTitle"/>
          </p:nvPr>
        </p:nvSpPr>
        <p:spPr>
          <a:xfrm>
            <a:off x="657413" y="1356300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Accesibilidad</a:t>
            </a:r>
            <a:endParaRPr/>
          </a:p>
        </p:txBody>
      </p:sp>
      <p:sp>
        <p:nvSpPr>
          <p:cNvPr id="417" name="Google Shape;417;p48"/>
          <p:cNvSpPr txBox="1"/>
          <p:nvPr>
            <p:ph idx="6" type="subTitle"/>
          </p:nvPr>
        </p:nvSpPr>
        <p:spPr>
          <a:xfrm>
            <a:off x="6137400" y="2175900"/>
            <a:ext cx="2699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Co-localización</a:t>
            </a:r>
            <a:endParaRPr/>
          </a:p>
        </p:txBody>
      </p:sp>
      <p:sp>
        <p:nvSpPr>
          <p:cNvPr id="418" name="Google Shape;418;p48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Diferentes costes integrados</a:t>
            </a:r>
            <a:endParaRPr/>
          </a:p>
        </p:txBody>
      </p:sp>
      <p:sp>
        <p:nvSpPr>
          <p:cNvPr id="419" name="Google Shape;419;p48"/>
          <p:cNvSpPr/>
          <p:nvPr/>
        </p:nvSpPr>
        <p:spPr>
          <a:xfrm>
            <a:off x="7088957" y="1570876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420" name="Google Shape;420;p48"/>
          <p:cNvSpPr/>
          <p:nvPr/>
        </p:nvSpPr>
        <p:spPr>
          <a:xfrm>
            <a:off x="4424692" y="2706298"/>
            <a:ext cx="339253" cy="318060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pic>
        <p:nvPicPr>
          <p:cNvPr id="421" name="Google Shape;421;p48" title="pkd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6250" y="2300425"/>
            <a:ext cx="2956126" cy="16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12" y="1812325"/>
            <a:ext cx="2211224" cy="175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7399" y="2665025"/>
            <a:ext cx="2861925" cy="18608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48"/>
          <p:cNvGrpSpPr/>
          <p:nvPr/>
        </p:nvGrpSpPr>
        <p:grpSpPr>
          <a:xfrm>
            <a:off x="7035425" y="770641"/>
            <a:ext cx="844109" cy="895672"/>
            <a:chOff x="1492673" y="2620775"/>
            <a:chExt cx="481825" cy="436275"/>
          </a:xfrm>
        </p:grpSpPr>
        <p:sp>
          <p:nvSpPr>
            <p:cNvPr id="425" name="Google Shape;425;p48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26" name="Google Shape;426;p48"/>
            <p:cNvSpPr/>
            <p:nvPr/>
          </p:nvSpPr>
          <p:spPr>
            <a:xfrm>
              <a:off x="1492673" y="2734674"/>
              <a:ext cx="481825" cy="322376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49" title="avion_con_ayuda_de_acnu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600" y="191100"/>
            <a:ext cx="7214802" cy="2032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50" title="avion_con_ayuda_de_acnu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600" y="191100"/>
            <a:ext cx="7214802" cy="203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0" title="RF1413692_20241220_10200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600" y="2279525"/>
            <a:ext cx="7214802" cy="20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1"/>
          <p:cNvSpPr/>
          <p:nvPr/>
        </p:nvSpPr>
        <p:spPr>
          <a:xfrm>
            <a:off x="3788675" y="442175"/>
            <a:ext cx="1877882" cy="1147608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43" name="Google Shape;443;p51"/>
          <p:cNvSpPr txBox="1"/>
          <p:nvPr>
            <p:ph type="title"/>
          </p:nvPr>
        </p:nvSpPr>
        <p:spPr>
          <a:xfrm>
            <a:off x="1581150" y="1915325"/>
            <a:ext cx="5981700" cy="102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Explicación</a:t>
            </a:r>
            <a:endParaRPr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del modelo</a:t>
            </a:r>
            <a:endParaRPr sz="4100"/>
          </a:p>
        </p:txBody>
      </p:sp>
      <p:sp>
        <p:nvSpPr>
          <p:cNvPr id="444" name="Google Shape;444;p51"/>
          <p:cNvSpPr txBox="1"/>
          <p:nvPr>
            <p:ph idx="2" type="title"/>
          </p:nvPr>
        </p:nvSpPr>
        <p:spPr>
          <a:xfrm>
            <a:off x="3947250" y="627800"/>
            <a:ext cx="1249500" cy="9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02</a:t>
            </a:r>
            <a:endParaRPr sz="4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2"/>
          <p:cNvSpPr txBox="1"/>
          <p:nvPr>
            <p:ph type="title"/>
          </p:nvPr>
        </p:nvSpPr>
        <p:spPr>
          <a:xfrm>
            <a:off x="720000" y="68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Conjuntos</a:t>
            </a:r>
            <a:endParaRPr/>
          </a:p>
        </p:txBody>
      </p:sp>
      <p:pic>
        <p:nvPicPr>
          <p:cNvPr id="450" name="Google Shape;4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275" y="1648200"/>
            <a:ext cx="8130800" cy="184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3"/>
          <p:cNvSpPr txBox="1"/>
          <p:nvPr>
            <p:ph type="title"/>
          </p:nvPr>
        </p:nvSpPr>
        <p:spPr>
          <a:xfrm>
            <a:off x="720000" y="68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Parámetros</a:t>
            </a:r>
            <a:endParaRPr/>
          </a:p>
        </p:txBody>
      </p:sp>
      <p:pic>
        <p:nvPicPr>
          <p:cNvPr id="456" name="Google Shape;45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35050"/>
            <a:ext cx="9144001" cy="22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4"/>
          <p:cNvSpPr txBox="1"/>
          <p:nvPr>
            <p:ph type="title"/>
          </p:nvPr>
        </p:nvSpPr>
        <p:spPr>
          <a:xfrm>
            <a:off x="720000" y="68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Parámetros</a:t>
            </a:r>
            <a:endParaRPr/>
          </a:p>
        </p:txBody>
      </p:sp>
      <p:pic>
        <p:nvPicPr>
          <p:cNvPr id="462" name="Google Shape;46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1975"/>
            <a:ext cx="9186151" cy="26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/>
          <p:nvPr>
            <p:ph type="title"/>
          </p:nvPr>
        </p:nvSpPr>
        <p:spPr>
          <a:xfrm>
            <a:off x="720000" y="68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pic>
        <p:nvPicPr>
          <p:cNvPr id="468" name="Google Shape;46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7400"/>
            <a:ext cx="9143999" cy="3180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"/>
          <p:cNvSpPr txBox="1"/>
          <p:nvPr>
            <p:ph type="title"/>
          </p:nvPr>
        </p:nvSpPr>
        <p:spPr>
          <a:xfrm>
            <a:off x="720000" y="68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pic>
        <p:nvPicPr>
          <p:cNvPr id="474" name="Google Shape;47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5075"/>
            <a:ext cx="9144001" cy="2880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/>
          <p:nvPr>
            <p:ph type="title"/>
          </p:nvPr>
        </p:nvSpPr>
        <p:spPr>
          <a:xfrm>
            <a:off x="720000" y="68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Funciones objetivo</a:t>
            </a:r>
            <a:endParaRPr/>
          </a:p>
        </p:txBody>
      </p:sp>
      <p:pic>
        <p:nvPicPr>
          <p:cNvPr id="480" name="Google Shape;48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49" y="1433150"/>
            <a:ext cx="8095500" cy="17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50" y="3247325"/>
            <a:ext cx="8147699" cy="112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8"/>
          <p:cNvSpPr txBox="1"/>
          <p:nvPr>
            <p:ph type="title"/>
          </p:nvPr>
        </p:nvSpPr>
        <p:spPr>
          <a:xfrm>
            <a:off x="720000" y="573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Restricciones</a:t>
            </a:r>
            <a:endParaRPr/>
          </a:p>
        </p:txBody>
      </p:sp>
      <p:pic>
        <p:nvPicPr>
          <p:cNvPr id="487" name="Google Shape;487;p58"/>
          <p:cNvPicPr preferRelativeResize="0"/>
          <p:nvPr/>
        </p:nvPicPr>
        <p:blipFill rotWithShape="1">
          <a:blip r:embed="rId3">
            <a:alphaModFix/>
          </a:blip>
          <a:srcRect b="52579" l="0" r="0" t="0"/>
          <a:stretch/>
        </p:blipFill>
        <p:spPr>
          <a:xfrm>
            <a:off x="2410338" y="1709138"/>
            <a:ext cx="4323325" cy="172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9"/>
          <p:cNvSpPr txBox="1"/>
          <p:nvPr>
            <p:ph type="title"/>
          </p:nvPr>
        </p:nvSpPr>
        <p:spPr>
          <a:xfrm>
            <a:off x="720000" y="573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Restricciones</a:t>
            </a:r>
            <a:endParaRPr/>
          </a:p>
        </p:txBody>
      </p:sp>
      <p:pic>
        <p:nvPicPr>
          <p:cNvPr id="493" name="Google Shape;493;p59"/>
          <p:cNvPicPr preferRelativeResize="0"/>
          <p:nvPr/>
        </p:nvPicPr>
        <p:blipFill rotWithShape="1">
          <a:blip r:embed="rId3">
            <a:alphaModFix/>
          </a:blip>
          <a:srcRect b="0" l="0" r="0" t="47949"/>
          <a:stretch/>
        </p:blipFill>
        <p:spPr>
          <a:xfrm>
            <a:off x="2410338" y="1624888"/>
            <a:ext cx="4323325" cy="18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0"/>
          <p:cNvSpPr txBox="1"/>
          <p:nvPr>
            <p:ph type="title"/>
          </p:nvPr>
        </p:nvSpPr>
        <p:spPr>
          <a:xfrm>
            <a:off x="720000" y="573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Restricciones</a:t>
            </a:r>
            <a:endParaRPr/>
          </a:p>
        </p:txBody>
      </p:sp>
      <p:pic>
        <p:nvPicPr>
          <p:cNvPr id="499" name="Google Shape;49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488" y="1654300"/>
            <a:ext cx="5153025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1"/>
          <p:cNvSpPr txBox="1"/>
          <p:nvPr>
            <p:ph type="title"/>
          </p:nvPr>
        </p:nvSpPr>
        <p:spPr>
          <a:xfrm>
            <a:off x="720000" y="573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Restricciones</a:t>
            </a:r>
            <a:endParaRPr/>
          </a:p>
        </p:txBody>
      </p:sp>
      <p:pic>
        <p:nvPicPr>
          <p:cNvPr id="505" name="Google Shape;50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1327400"/>
            <a:ext cx="213360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"/>
          <p:cNvSpPr txBox="1"/>
          <p:nvPr>
            <p:ph type="title"/>
          </p:nvPr>
        </p:nvSpPr>
        <p:spPr>
          <a:xfrm>
            <a:off x="720000" y="871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Consideraciones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3"/>
          <p:cNvSpPr txBox="1"/>
          <p:nvPr>
            <p:ph type="title"/>
          </p:nvPr>
        </p:nvSpPr>
        <p:spPr>
          <a:xfrm>
            <a:off x="720000" y="871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Consideraciones</a:t>
            </a:r>
            <a:endParaRPr/>
          </a:p>
        </p:txBody>
      </p:sp>
      <p:sp>
        <p:nvSpPr>
          <p:cNvPr id="516" name="Google Shape;516;p63"/>
          <p:cNvSpPr txBox="1"/>
          <p:nvPr>
            <p:ph idx="4294967295" type="subTitle"/>
          </p:nvPr>
        </p:nvSpPr>
        <p:spPr>
          <a:xfrm>
            <a:off x="2416350" y="3610050"/>
            <a:ext cx="4806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Facility Location Problem (FLP)</a:t>
            </a:r>
            <a:endParaRPr b="1"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4"/>
          <p:cNvSpPr txBox="1"/>
          <p:nvPr>
            <p:ph type="title"/>
          </p:nvPr>
        </p:nvSpPr>
        <p:spPr>
          <a:xfrm>
            <a:off x="720000" y="871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Consideraciones</a:t>
            </a:r>
            <a:endParaRPr/>
          </a:p>
        </p:txBody>
      </p:sp>
      <p:sp>
        <p:nvSpPr>
          <p:cNvPr id="522" name="Google Shape;522;p64"/>
          <p:cNvSpPr txBox="1"/>
          <p:nvPr>
            <p:ph idx="4294967295" type="subTitle"/>
          </p:nvPr>
        </p:nvSpPr>
        <p:spPr>
          <a:xfrm>
            <a:off x="2416350" y="3610050"/>
            <a:ext cx="4806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Facility Location Problem (FLP)</a:t>
            </a:r>
            <a:endParaRPr b="1"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Demanda inflexible</a:t>
            </a:r>
            <a:endParaRPr b="1"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5"/>
          <p:cNvSpPr txBox="1"/>
          <p:nvPr>
            <p:ph type="title"/>
          </p:nvPr>
        </p:nvSpPr>
        <p:spPr>
          <a:xfrm>
            <a:off x="720000" y="871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Consideraciones</a:t>
            </a:r>
            <a:endParaRPr/>
          </a:p>
        </p:txBody>
      </p:sp>
      <p:sp>
        <p:nvSpPr>
          <p:cNvPr id="528" name="Google Shape;528;p65"/>
          <p:cNvSpPr txBox="1"/>
          <p:nvPr>
            <p:ph idx="4294967295" type="subTitle"/>
          </p:nvPr>
        </p:nvSpPr>
        <p:spPr>
          <a:xfrm>
            <a:off x="2416350" y="3610050"/>
            <a:ext cx="4806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Facility Location Problem (FLP)</a:t>
            </a:r>
            <a:endParaRPr b="1"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Demanda inflexible</a:t>
            </a:r>
            <a:endParaRPr b="1"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Sin restricciones de carga</a:t>
            </a:r>
            <a:endParaRPr b="1" sz="23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6"/>
          <p:cNvSpPr txBox="1"/>
          <p:nvPr>
            <p:ph type="title"/>
          </p:nvPr>
        </p:nvSpPr>
        <p:spPr>
          <a:xfrm>
            <a:off x="720000" y="871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Consideraciones</a:t>
            </a:r>
            <a:endParaRPr/>
          </a:p>
        </p:txBody>
      </p:sp>
      <p:sp>
        <p:nvSpPr>
          <p:cNvPr id="534" name="Google Shape;534;p66"/>
          <p:cNvSpPr txBox="1"/>
          <p:nvPr>
            <p:ph idx="4294967295" type="subTitle"/>
          </p:nvPr>
        </p:nvSpPr>
        <p:spPr>
          <a:xfrm>
            <a:off x="2416350" y="3610050"/>
            <a:ext cx="4806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Facility Location Problem (FLP)</a:t>
            </a:r>
            <a:endParaRPr b="1"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Demanda inflexible</a:t>
            </a:r>
            <a:endParaRPr b="1"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Sin restricciones de carga</a:t>
            </a:r>
            <a:endParaRPr b="1"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MIP</a:t>
            </a:r>
            <a:endParaRPr b="1" sz="23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7"/>
          <p:cNvSpPr/>
          <p:nvPr/>
        </p:nvSpPr>
        <p:spPr>
          <a:xfrm>
            <a:off x="3788675" y="442175"/>
            <a:ext cx="1877882" cy="1147608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40" name="Google Shape;540;p67"/>
          <p:cNvSpPr txBox="1"/>
          <p:nvPr>
            <p:ph type="title"/>
          </p:nvPr>
        </p:nvSpPr>
        <p:spPr>
          <a:xfrm>
            <a:off x="1581150" y="1915325"/>
            <a:ext cx="5981700" cy="102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Técnicas empleadas</a:t>
            </a:r>
            <a:endParaRPr sz="4100"/>
          </a:p>
        </p:txBody>
      </p:sp>
      <p:sp>
        <p:nvSpPr>
          <p:cNvPr id="541" name="Google Shape;541;p67"/>
          <p:cNvSpPr txBox="1"/>
          <p:nvPr>
            <p:ph idx="2" type="title"/>
          </p:nvPr>
        </p:nvSpPr>
        <p:spPr>
          <a:xfrm>
            <a:off x="3947250" y="627800"/>
            <a:ext cx="1249500" cy="9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03</a:t>
            </a:r>
            <a:endParaRPr sz="4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8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es</a:t>
            </a:r>
            <a:r>
              <a:rPr lang="en"/>
              <a:t>tocástica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9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es</a:t>
            </a:r>
            <a:r>
              <a:rPr lang="en"/>
              <a:t>tocástica</a:t>
            </a:r>
            <a:endParaRPr/>
          </a:p>
        </p:txBody>
      </p:sp>
      <p:pic>
        <p:nvPicPr>
          <p:cNvPr id="552" name="Google Shape;552;p69" title="min-programacion-estocastic.gif"/>
          <p:cNvPicPr preferRelativeResize="0"/>
          <p:nvPr/>
        </p:nvPicPr>
        <p:blipFill rotWithShape="1">
          <a:blip r:embed="rId3">
            <a:alphaModFix/>
          </a:blip>
          <a:srcRect b="0" l="0" r="51014" t="0"/>
          <a:stretch/>
        </p:blipFill>
        <p:spPr>
          <a:xfrm>
            <a:off x="720000" y="1885050"/>
            <a:ext cx="3528299" cy="211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0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es</a:t>
            </a:r>
            <a:r>
              <a:rPr lang="en"/>
              <a:t>tocástica</a:t>
            </a:r>
            <a:endParaRPr/>
          </a:p>
        </p:txBody>
      </p:sp>
      <p:pic>
        <p:nvPicPr>
          <p:cNvPr id="558" name="Google Shape;558;p70" title="min-programacion-estocastic.gif"/>
          <p:cNvPicPr preferRelativeResize="0"/>
          <p:nvPr/>
        </p:nvPicPr>
        <p:blipFill rotWithShape="1">
          <a:blip r:embed="rId3">
            <a:alphaModFix/>
          </a:blip>
          <a:srcRect b="0" l="0" r="51014" t="0"/>
          <a:stretch/>
        </p:blipFill>
        <p:spPr>
          <a:xfrm>
            <a:off x="720000" y="1885050"/>
            <a:ext cx="3528299" cy="21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70"/>
          <p:cNvSpPr txBox="1"/>
          <p:nvPr>
            <p:ph idx="4294967295" type="subTitle"/>
          </p:nvPr>
        </p:nvSpPr>
        <p:spPr>
          <a:xfrm>
            <a:off x="4363650" y="1619925"/>
            <a:ext cx="43113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Integrar distintos escenarios</a:t>
            </a:r>
            <a:endParaRPr b="1" sz="23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1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es</a:t>
            </a:r>
            <a:r>
              <a:rPr lang="en"/>
              <a:t>tocástica</a:t>
            </a:r>
            <a:endParaRPr/>
          </a:p>
        </p:txBody>
      </p:sp>
      <p:pic>
        <p:nvPicPr>
          <p:cNvPr id="565" name="Google Shape;565;p71" title="min-programacion-estocastic.gif"/>
          <p:cNvPicPr preferRelativeResize="0"/>
          <p:nvPr/>
        </p:nvPicPr>
        <p:blipFill rotWithShape="1">
          <a:blip r:embed="rId3">
            <a:alphaModFix/>
          </a:blip>
          <a:srcRect b="0" l="0" r="51014" t="0"/>
          <a:stretch/>
        </p:blipFill>
        <p:spPr>
          <a:xfrm>
            <a:off x="720000" y="1885050"/>
            <a:ext cx="3528299" cy="21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1"/>
          <p:cNvSpPr txBox="1"/>
          <p:nvPr>
            <p:ph idx="4294967295" type="subTitle"/>
          </p:nvPr>
        </p:nvSpPr>
        <p:spPr>
          <a:xfrm>
            <a:off x="4363650" y="1619925"/>
            <a:ext cx="43113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Integrar distintos escenarios</a:t>
            </a:r>
            <a:endParaRPr b="1" sz="2300"/>
          </a:p>
        </p:txBody>
      </p:sp>
      <p:pic>
        <p:nvPicPr>
          <p:cNvPr id="567" name="Google Shape;567;p71"/>
          <p:cNvPicPr preferRelativeResize="0"/>
          <p:nvPr/>
        </p:nvPicPr>
        <p:blipFill rotWithShape="1">
          <a:blip r:embed="rId4">
            <a:alphaModFix/>
          </a:blip>
          <a:srcRect b="3948" l="0" r="0" t="3587"/>
          <a:stretch/>
        </p:blipFill>
        <p:spPr>
          <a:xfrm>
            <a:off x="5570738" y="2150325"/>
            <a:ext cx="1897125" cy="26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71"/>
          <p:cNvSpPr txBox="1"/>
          <p:nvPr>
            <p:ph idx="4294967295" type="subTitle"/>
          </p:nvPr>
        </p:nvSpPr>
        <p:spPr>
          <a:xfrm>
            <a:off x="5131275" y="4146950"/>
            <a:ext cx="43113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…</a:t>
            </a:r>
            <a:endParaRPr b="1" sz="2300"/>
          </a:p>
        </p:txBody>
      </p:sp>
      <p:sp>
        <p:nvSpPr>
          <p:cNvPr id="569" name="Google Shape;569;p71"/>
          <p:cNvSpPr txBox="1"/>
          <p:nvPr>
            <p:ph idx="4294967295" type="subTitle"/>
          </p:nvPr>
        </p:nvSpPr>
        <p:spPr>
          <a:xfrm>
            <a:off x="5131275" y="2825763"/>
            <a:ext cx="43113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…</a:t>
            </a:r>
            <a:endParaRPr b="1" sz="2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2"/>
          <p:cNvSpPr txBox="1"/>
          <p:nvPr>
            <p:ph type="title"/>
          </p:nvPr>
        </p:nvSpPr>
        <p:spPr>
          <a:xfrm>
            <a:off x="720000" y="68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estocástica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5" name="Google Shape;57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49" y="1433150"/>
            <a:ext cx="8095500" cy="17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50" y="3247325"/>
            <a:ext cx="8147699" cy="112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3"/>
          <p:cNvSpPr txBox="1"/>
          <p:nvPr>
            <p:ph type="title"/>
          </p:nvPr>
        </p:nvSpPr>
        <p:spPr>
          <a:xfrm>
            <a:off x="720000" y="68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estocástica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49" y="1433150"/>
            <a:ext cx="8095500" cy="17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50" y="3247325"/>
            <a:ext cx="8147699" cy="1127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73"/>
          <p:cNvSpPr/>
          <p:nvPr/>
        </p:nvSpPr>
        <p:spPr>
          <a:xfrm>
            <a:off x="5012100" y="1535050"/>
            <a:ext cx="490200" cy="4902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73"/>
          <p:cNvSpPr/>
          <p:nvPr/>
        </p:nvSpPr>
        <p:spPr>
          <a:xfrm>
            <a:off x="1828425" y="3523725"/>
            <a:ext cx="490200" cy="4902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4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multicriterio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5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multicriterio</a:t>
            </a:r>
            <a:endParaRPr/>
          </a:p>
        </p:txBody>
      </p:sp>
      <p:sp>
        <p:nvSpPr>
          <p:cNvPr id="596" name="Google Shape;596;p75"/>
          <p:cNvSpPr txBox="1"/>
          <p:nvPr>
            <p:ph idx="4294967295" type="subTitle"/>
          </p:nvPr>
        </p:nvSpPr>
        <p:spPr>
          <a:xfrm>
            <a:off x="3512325" y="1619925"/>
            <a:ext cx="5162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Tener en cuenta distintos criterios</a:t>
            </a:r>
            <a:endParaRPr b="1" sz="2300"/>
          </a:p>
        </p:txBody>
      </p:sp>
      <p:pic>
        <p:nvPicPr>
          <p:cNvPr id="597" name="Google Shape;597;p75" title="istockphoto-912366960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75" y="1501900"/>
            <a:ext cx="2965425" cy="296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6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multicriterio</a:t>
            </a:r>
            <a:endParaRPr/>
          </a:p>
        </p:txBody>
      </p:sp>
      <p:sp>
        <p:nvSpPr>
          <p:cNvPr id="603" name="Google Shape;603;p76"/>
          <p:cNvSpPr txBox="1"/>
          <p:nvPr>
            <p:ph idx="4294967295" type="subTitle"/>
          </p:nvPr>
        </p:nvSpPr>
        <p:spPr>
          <a:xfrm>
            <a:off x="3512325" y="1619925"/>
            <a:ext cx="5162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Tener en cuenta distintos criterios</a:t>
            </a:r>
            <a:endParaRPr b="1" sz="2300"/>
          </a:p>
        </p:txBody>
      </p:sp>
      <p:pic>
        <p:nvPicPr>
          <p:cNvPr id="604" name="Google Shape;604;p76" title="istockphoto-912366960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75" y="1501900"/>
            <a:ext cx="2965425" cy="2965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76"/>
          <p:cNvGrpSpPr/>
          <p:nvPr/>
        </p:nvGrpSpPr>
        <p:grpSpPr>
          <a:xfrm>
            <a:off x="4731103" y="2571758"/>
            <a:ext cx="1363035" cy="1245084"/>
            <a:chOff x="1492673" y="2620775"/>
            <a:chExt cx="481825" cy="436275"/>
          </a:xfrm>
        </p:grpSpPr>
        <p:sp>
          <p:nvSpPr>
            <p:cNvPr id="606" name="Google Shape;606;p76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7" name="Google Shape;607;p76"/>
            <p:cNvSpPr/>
            <p:nvPr/>
          </p:nvSpPr>
          <p:spPr>
            <a:xfrm>
              <a:off x="1492673" y="2734674"/>
              <a:ext cx="481825" cy="322376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08" name="Google Shape;608;p76"/>
          <p:cNvGrpSpPr/>
          <p:nvPr/>
        </p:nvGrpSpPr>
        <p:grpSpPr>
          <a:xfrm>
            <a:off x="6210888" y="2707054"/>
            <a:ext cx="1363024" cy="1109813"/>
            <a:chOff x="-42651700" y="3217825"/>
            <a:chExt cx="367600" cy="317425"/>
          </a:xfrm>
        </p:grpSpPr>
        <p:sp>
          <p:nvSpPr>
            <p:cNvPr id="609" name="Google Shape;609;p76"/>
            <p:cNvSpPr/>
            <p:nvPr/>
          </p:nvSpPr>
          <p:spPr>
            <a:xfrm>
              <a:off x="-42651700" y="3239075"/>
              <a:ext cx="367600" cy="296175"/>
            </a:xfrm>
            <a:custGeom>
              <a:rect b="b" l="l" r="r" t="t"/>
              <a:pathLst>
                <a:path extrusionOk="0" h="11847" w="14704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76"/>
            <p:cNvSpPr/>
            <p:nvPr/>
          </p:nvSpPr>
          <p:spPr>
            <a:xfrm>
              <a:off x="-42419600" y="3217825"/>
              <a:ext cx="106350" cy="106350"/>
            </a:xfrm>
            <a:custGeom>
              <a:rect b="b" l="l" r="r" t="t"/>
              <a:pathLst>
                <a:path extrusionOk="0" h="4254" w="4254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76"/>
            <p:cNvSpPr/>
            <p:nvPr/>
          </p:nvSpPr>
          <p:spPr>
            <a:xfrm>
              <a:off x="-42623600" y="3218600"/>
              <a:ext cx="106350" cy="106375"/>
            </a:xfrm>
            <a:custGeom>
              <a:rect b="b" l="l" r="r" t="t"/>
              <a:pathLst>
                <a:path extrusionOk="0" h="4255" w="4254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76"/>
            <p:cNvSpPr/>
            <p:nvPr/>
          </p:nvSpPr>
          <p:spPr>
            <a:xfrm>
              <a:off x="-42561375" y="3279250"/>
              <a:ext cx="185900" cy="186700"/>
            </a:xfrm>
            <a:custGeom>
              <a:rect b="b" l="l" r="r" t="t"/>
              <a:pathLst>
                <a:path extrusionOk="0" h="7468" w="7436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7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multicriterio</a:t>
            </a:r>
            <a:endParaRPr/>
          </a:p>
        </p:txBody>
      </p:sp>
      <p:sp>
        <p:nvSpPr>
          <p:cNvPr id="618" name="Google Shape;618;p77"/>
          <p:cNvSpPr txBox="1"/>
          <p:nvPr>
            <p:ph idx="4294967295" type="subTitle"/>
          </p:nvPr>
        </p:nvSpPr>
        <p:spPr>
          <a:xfrm>
            <a:off x="3521950" y="1974050"/>
            <a:ext cx="5162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Tener en cuenta distintos criterios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frecuentemente enfrentados</a:t>
            </a:r>
            <a:endParaRPr b="1" sz="2300"/>
          </a:p>
        </p:txBody>
      </p:sp>
      <p:pic>
        <p:nvPicPr>
          <p:cNvPr id="619" name="Google Shape;619;p77" title="istockphoto-912366960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75" y="1501900"/>
            <a:ext cx="2965425" cy="2965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77"/>
          <p:cNvGrpSpPr/>
          <p:nvPr/>
        </p:nvGrpSpPr>
        <p:grpSpPr>
          <a:xfrm>
            <a:off x="4273903" y="2571758"/>
            <a:ext cx="1363035" cy="1245084"/>
            <a:chOff x="1492673" y="2620775"/>
            <a:chExt cx="481825" cy="436275"/>
          </a:xfrm>
        </p:grpSpPr>
        <p:sp>
          <p:nvSpPr>
            <p:cNvPr id="621" name="Google Shape;621;p77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2" name="Google Shape;622;p77"/>
            <p:cNvSpPr/>
            <p:nvPr/>
          </p:nvSpPr>
          <p:spPr>
            <a:xfrm>
              <a:off x="1492673" y="2734674"/>
              <a:ext cx="481825" cy="322376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623" name="Google Shape;623;p77" title="ai-generated-8998102_6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6926" y="2856015"/>
            <a:ext cx="1078075" cy="81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4" name="Google Shape;624;p77"/>
          <p:cNvGrpSpPr/>
          <p:nvPr/>
        </p:nvGrpSpPr>
        <p:grpSpPr>
          <a:xfrm>
            <a:off x="6668088" y="2707054"/>
            <a:ext cx="1363024" cy="1109813"/>
            <a:chOff x="-42651700" y="3217825"/>
            <a:chExt cx="367600" cy="317425"/>
          </a:xfrm>
        </p:grpSpPr>
        <p:sp>
          <p:nvSpPr>
            <p:cNvPr id="625" name="Google Shape;625;p77"/>
            <p:cNvSpPr/>
            <p:nvPr/>
          </p:nvSpPr>
          <p:spPr>
            <a:xfrm>
              <a:off x="-42651700" y="3239075"/>
              <a:ext cx="367600" cy="296175"/>
            </a:xfrm>
            <a:custGeom>
              <a:rect b="b" l="l" r="r" t="t"/>
              <a:pathLst>
                <a:path extrusionOk="0" h="11847" w="14704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77"/>
            <p:cNvSpPr/>
            <p:nvPr/>
          </p:nvSpPr>
          <p:spPr>
            <a:xfrm>
              <a:off x="-42419600" y="3217825"/>
              <a:ext cx="106350" cy="106350"/>
            </a:xfrm>
            <a:custGeom>
              <a:rect b="b" l="l" r="r" t="t"/>
              <a:pathLst>
                <a:path extrusionOk="0" h="4254" w="4254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77"/>
            <p:cNvSpPr/>
            <p:nvPr/>
          </p:nvSpPr>
          <p:spPr>
            <a:xfrm>
              <a:off x="-42623600" y="3218600"/>
              <a:ext cx="106350" cy="106375"/>
            </a:xfrm>
            <a:custGeom>
              <a:rect b="b" l="l" r="r" t="t"/>
              <a:pathLst>
                <a:path extrusionOk="0" h="4255" w="4254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77"/>
            <p:cNvSpPr/>
            <p:nvPr/>
          </p:nvSpPr>
          <p:spPr>
            <a:xfrm>
              <a:off x="-42561375" y="3279250"/>
              <a:ext cx="185900" cy="186700"/>
            </a:xfrm>
            <a:custGeom>
              <a:rect b="b" l="l" r="r" t="t"/>
              <a:pathLst>
                <a:path extrusionOk="0" h="7468" w="7436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8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por fases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9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por fases</a:t>
            </a:r>
            <a:endParaRPr/>
          </a:p>
        </p:txBody>
      </p:sp>
      <p:sp>
        <p:nvSpPr>
          <p:cNvPr id="639" name="Google Shape;639;p79"/>
          <p:cNvSpPr txBox="1"/>
          <p:nvPr>
            <p:ph idx="4294967295" type="subTitle"/>
          </p:nvPr>
        </p:nvSpPr>
        <p:spPr>
          <a:xfrm>
            <a:off x="1990650" y="2666250"/>
            <a:ext cx="5617200" cy="1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Minimizar costes</a:t>
            </a:r>
            <a:endParaRPr b="1" sz="3200"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Minimizar tiempos</a:t>
            </a:r>
            <a:endParaRPr b="1" sz="3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sin empeorar costes</a:t>
            </a:r>
            <a:endParaRPr b="1" sz="2600"/>
          </a:p>
        </p:txBody>
      </p:sp>
      <p:grpSp>
        <p:nvGrpSpPr>
          <p:cNvPr id="640" name="Google Shape;640;p79"/>
          <p:cNvGrpSpPr/>
          <p:nvPr/>
        </p:nvGrpSpPr>
        <p:grpSpPr>
          <a:xfrm>
            <a:off x="6454792" y="1897143"/>
            <a:ext cx="632347" cy="636132"/>
            <a:chOff x="1492673" y="2620775"/>
            <a:chExt cx="481825" cy="436275"/>
          </a:xfrm>
        </p:grpSpPr>
        <p:sp>
          <p:nvSpPr>
            <p:cNvPr id="641" name="Google Shape;641;p79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2" name="Google Shape;642;p79"/>
            <p:cNvSpPr/>
            <p:nvPr/>
          </p:nvSpPr>
          <p:spPr>
            <a:xfrm>
              <a:off x="1492673" y="2734674"/>
              <a:ext cx="481825" cy="322376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43" name="Google Shape;643;p79"/>
          <p:cNvGrpSpPr/>
          <p:nvPr/>
        </p:nvGrpSpPr>
        <p:grpSpPr>
          <a:xfrm>
            <a:off x="6454794" y="2802441"/>
            <a:ext cx="632346" cy="520799"/>
            <a:chOff x="-42651700" y="3217825"/>
            <a:chExt cx="367600" cy="317425"/>
          </a:xfrm>
        </p:grpSpPr>
        <p:sp>
          <p:nvSpPr>
            <p:cNvPr id="644" name="Google Shape;644;p79"/>
            <p:cNvSpPr/>
            <p:nvPr/>
          </p:nvSpPr>
          <p:spPr>
            <a:xfrm>
              <a:off x="-42651700" y="3239075"/>
              <a:ext cx="367600" cy="296175"/>
            </a:xfrm>
            <a:custGeom>
              <a:rect b="b" l="l" r="r" t="t"/>
              <a:pathLst>
                <a:path extrusionOk="0" h="11847" w="14704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79"/>
            <p:cNvSpPr/>
            <p:nvPr/>
          </p:nvSpPr>
          <p:spPr>
            <a:xfrm>
              <a:off x="-42419600" y="3217825"/>
              <a:ext cx="106350" cy="106350"/>
            </a:xfrm>
            <a:custGeom>
              <a:rect b="b" l="l" r="r" t="t"/>
              <a:pathLst>
                <a:path extrusionOk="0" h="4254" w="4254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79"/>
            <p:cNvSpPr/>
            <p:nvPr/>
          </p:nvSpPr>
          <p:spPr>
            <a:xfrm>
              <a:off x="-42623600" y="3218600"/>
              <a:ext cx="106350" cy="106375"/>
            </a:xfrm>
            <a:custGeom>
              <a:rect b="b" l="l" r="r" t="t"/>
              <a:pathLst>
                <a:path extrusionOk="0" h="4255" w="4254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79"/>
            <p:cNvSpPr/>
            <p:nvPr/>
          </p:nvSpPr>
          <p:spPr>
            <a:xfrm>
              <a:off x="-42561375" y="3279250"/>
              <a:ext cx="185900" cy="186700"/>
            </a:xfrm>
            <a:custGeom>
              <a:rect b="b" l="l" r="r" t="t"/>
              <a:pathLst>
                <a:path extrusionOk="0" h="7468" w="7436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0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por fases</a:t>
            </a:r>
            <a:endParaRPr/>
          </a:p>
        </p:txBody>
      </p:sp>
      <p:sp>
        <p:nvSpPr>
          <p:cNvPr id="653" name="Google Shape;653;p80"/>
          <p:cNvSpPr txBox="1"/>
          <p:nvPr>
            <p:ph idx="4294967295" type="subTitle"/>
          </p:nvPr>
        </p:nvSpPr>
        <p:spPr>
          <a:xfrm>
            <a:off x="1990650" y="2666250"/>
            <a:ext cx="5617200" cy="1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Minimizar costes</a:t>
            </a:r>
            <a:endParaRPr b="1" sz="3200"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Minimizar tiempos</a:t>
            </a:r>
            <a:endParaRPr b="1" sz="3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sin empeorar costes</a:t>
            </a:r>
            <a:endParaRPr b="1" sz="2600"/>
          </a:p>
        </p:txBody>
      </p:sp>
      <p:grpSp>
        <p:nvGrpSpPr>
          <p:cNvPr id="654" name="Google Shape;654;p80"/>
          <p:cNvGrpSpPr/>
          <p:nvPr/>
        </p:nvGrpSpPr>
        <p:grpSpPr>
          <a:xfrm>
            <a:off x="6454792" y="1897143"/>
            <a:ext cx="632347" cy="636132"/>
            <a:chOff x="1492673" y="2620775"/>
            <a:chExt cx="481825" cy="436275"/>
          </a:xfrm>
        </p:grpSpPr>
        <p:sp>
          <p:nvSpPr>
            <p:cNvPr id="655" name="Google Shape;655;p80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6" name="Google Shape;656;p80"/>
            <p:cNvSpPr/>
            <p:nvPr/>
          </p:nvSpPr>
          <p:spPr>
            <a:xfrm>
              <a:off x="1492673" y="2734674"/>
              <a:ext cx="481825" cy="322376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57" name="Google Shape;657;p80"/>
          <p:cNvGrpSpPr/>
          <p:nvPr/>
        </p:nvGrpSpPr>
        <p:grpSpPr>
          <a:xfrm>
            <a:off x="6454794" y="2802441"/>
            <a:ext cx="632346" cy="520799"/>
            <a:chOff x="-42651700" y="3217825"/>
            <a:chExt cx="367600" cy="317425"/>
          </a:xfrm>
        </p:grpSpPr>
        <p:sp>
          <p:nvSpPr>
            <p:cNvPr id="658" name="Google Shape;658;p80"/>
            <p:cNvSpPr/>
            <p:nvPr/>
          </p:nvSpPr>
          <p:spPr>
            <a:xfrm>
              <a:off x="-42651700" y="3239075"/>
              <a:ext cx="367600" cy="296175"/>
            </a:xfrm>
            <a:custGeom>
              <a:rect b="b" l="l" r="r" t="t"/>
              <a:pathLst>
                <a:path extrusionOk="0" h="11847" w="14704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0"/>
            <p:cNvSpPr/>
            <p:nvPr/>
          </p:nvSpPr>
          <p:spPr>
            <a:xfrm>
              <a:off x="-42419600" y="3217825"/>
              <a:ext cx="106350" cy="106350"/>
            </a:xfrm>
            <a:custGeom>
              <a:rect b="b" l="l" r="r" t="t"/>
              <a:pathLst>
                <a:path extrusionOk="0" h="4254" w="4254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0"/>
            <p:cNvSpPr/>
            <p:nvPr/>
          </p:nvSpPr>
          <p:spPr>
            <a:xfrm>
              <a:off x="-42623600" y="3218600"/>
              <a:ext cx="106350" cy="106375"/>
            </a:xfrm>
            <a:custGeom>
              <a:rect b="b" l="l" r="r" t="t"/>
              <a:pathLst>
                <a:path extrusionOk="0" h="4255" w="4254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0"/>
            <p:cNvSpPr/>
            <p:nvPr/>
          </p:nvSpPr>
          <p:spPr>
            <a:xfrm>
              <a:off x="-42561375" y="3279250"/>
              <a:ext cx="185900" cy="186700"/>
            </a:xfrm>
            <a:custGeom>
              <a:rect b="b" l="l" r="r" t="t"/>
              <a:pathLst>
                <a:path extrusionOk="0" h="7468" w="7436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2" name="Google Shape;662;p80"/>
          <p:cNvSpPr txBox="1"/>
          <p:nvPr>
            <p:ph idx="4294967295" type="subTitle"/>
          </p:nvPr>
        </p:nvSpPr>
        <p:spPr>
          <a:xfrm>
            <a:off x="3412150" y="3323250"/>
            <a:ext cx="5617200" cy="1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¡El orden tiene implicaciones </a:t>
            </a:r>
            <a:r>
              <a:rPr b="1" lang="en" sz="2200"/>
              <a:t>éticas</a:t>
            </a:r>
            <a:r>
              <a:rPr lang="en" sz="2200"/>
              <a:t>!</a:t>
            </a:r>
            <a:endParaRPr sz="2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1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por fases</a:t>
            </a:r>
            <a:endParaRPr/>
          </a:p>
        </p:txBody>
      </p:sp>
      <p:sp>
        <p:nvSpPr>
          <p:cNvPr id="668" name="Google Shape;668;p81"/>
          <p:cNvSpPr txBox="1"/>
          <p:nvPr>
            <p:ph idx="4294967295" type="subTitle"/>
          </p:nvPr>
        </p:nvSpPr>
        <p:spPr>
          <a:xfrm>
            <a:off x="1990650" y="2715950"/>
            <a:ext cx="5617200" cy="1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min F1 s.a. R1       —&gt; F1*</a:t>
            </a:r>
            <a:endParaRPr b="1" sz="3200"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</a:t>
            </a:r>
            <a:r>
              <a:rPr b="1" lang="en" sz="3200"/>
              <a:t>in F2 s.a. R1, R2, y</a:t>
            </a:r>
            <a:endParaRPr b="1" sz="3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/>
              <a:t>F1 ≤ F1*</a:t>
            </a:r>
            <a:endParaRPr b="1" sz="23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2"/>
          <p:cNvSpPr txBox="1"/>
          <p:nvPr>
            <p:ph type="title"/>
          </p:nvPr>
        </p:nvSpPr>
        <p:spPr>
          <a:xfrm>
            <a:off x="720000" y="640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Frontera de Pareto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3"/>
          <p:cNvSpPr txBox="1"/>
          <p:nvPr>
            <p:ph type="title"/>
          </p:nvPr>
        </p:nvSpPr>
        <p:spPr>
          <a:xfrm>
            <a:off x="720000" y="640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Frontera de Pareto</a:t>
            </a:r>
            <a:endParaRPr/>
          </a:p>
        </p:txBody>
      </p:sp>
      <p:pic>
        <p:nvPicPr>
          <p:cNvPr id="679" name="Google Shape;67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213475"/>
            <a:ext cx="4419600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4"/>
          <p:cNvSpPr txBox="1"/>
          <p:nvPr>
            <p:ph idx="4294967295" type="subTitle"/>
          </p:nvPr>
        </p:nvSpPr>
        <p:spPr>
          <a:xfrm>
            <a:off x="1990650" y="2715950"/>
            <a:ext cx="5617200" cy="1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min F1 s.a. R1       —&gt; F1*</a:t>
            </a:r>
            <a:endParaRPr b="1" sz="3200"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min F2 s.a. R1, R2, y</a:t>
            </a:r>
            <a:endParaRPr b="1" sz="3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/>
              <a:t>F1 ≤ F1* · (1+β)</a:t>
            </a:r>
            <a:endParaRPr b="1" sz="2300"/>
          </a:p>
        </p:txBody>
      </p:sp>
      <p:sp>
        <p:nvSpPr>
          <p:cNvPr id="685" name="Google Shape;685;p84"/>
          <p:cNvSpPr txBox="1"/>
          <p:nvPr>
            <p:ph type="title"/>
          </p:nvPr>
        </p:nvSpPr>
        <p:spPr>
          <a:xfrm>
            <a:off x="720000" y="640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Frontera de Pareto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5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Frontera de Pareto</a:t>
            </a:r>
            <a:endParaRPr/>
          </a:p>
        </p:txBody>
      </p:sp>
      <p:pic>
        <p:nvPicPr>
          <p:cNvPr id="691" name="Google Shape;69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50" y="1837000"/>
            <a:ext cx="8267501" cy="17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6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Frontera de Pareto</a:t>
            </a:r>
            <a:endParaRPr/>
          </a:p>
        </p:txBody>
      </p:sp>
      <p:pic>
        <p:nvPicPr>
          <p:cNvPr id="697" name="Google Shape;69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50" y="1837000"/>
            <a:ext cx="8267501" cy="171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86"/>
          <p:cNvSpPr/>
          <p:nvPr/>
        </p:nvSpPr>
        <p:spPr>
          <a:xfrm>
            <a:off x="7105775" y="2361850"/>
            <a:ext cx="2088300" cy="13941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7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Frontera de Pareto</a:t>
            </a:r>
            <a:endParaRPr/>
          </a:p>
        </p:txBody>
      </p:sp>
      <p:pic>
        <p:nvPicPr>
          <p:cNvPr id="704" name="Google Shape;70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50" y="1837000"/>
            <a:ext cx="8267501" cy="1718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87"/>
          <p:cNvSpPr/>
          <p:nvPr/>
        </p:nvSpPr>
        <p:spPr>
          <a:xfrm>
            <a:off x="7105775" y="2361850"/>
            <a:ext cx="2088300" cy="13941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8"/>
          <p:cNvSpPr/>
          <p:nvPr/>
        </p:nvSpPr>
        <p:spPr>
          <a:xfrm>
            <a:off x="3788675" y="442175"/>
            <a:ext cx="1877882" cy="1147608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11" name="Google Shape;711;p88"/>
          <p:cNvSpPr txBox="1"/>
          <p:nvPr>
            <p:ph type="title"/>
          </p:nvPr>
        </p:nvSpPr>
        <p:spPr>
          <a:xfrm>
            <a:off x="1581150" y="1915325"/>
            <a:ext cx="5981700" cy="102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Implementación del</a:t>
            </a:r>
            <a:endParaRPr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modelo en GAMS</a:t>
            </a:r>
            <a:endParaRPr sz="3800"/>
          </a:p>
        </p:txBody>
      </p:sp>
      <p:sp>
        <p:nvSpPr>
          <p:cNvPr id="712" name="Google Shape;712;p88"/>
          <p:cNvSpPr txBox="1"/>
          <p:nvPr>
            <p:ph idx="2" type="title"/>
          </p:nvPr>
        </p:nvSpPr>
        <p:spPr>
          <a:xfrm>
            <a:off x="3947250" y="627800"/>
            <a:ext cx="1249500" cy="9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3.5</a:t>
            </a:r>
            <a:endParaRPr sz="41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9"/>
          <p:cNvSpPr txBox="1"/>
          <p:nvPr>
            <p:ph type="title"/>
          </p:nvPr>
        </p:nvSpPr>
        <p:spPr>
          <a:xfrm>
            <a:off x="720000" y="602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en GAMS</a:t>
            </a:r>
            <a:endParaRPr/>
          </a:p>
        </p:txBody>
      </p:sp>
      <p:grpSp>
        <p:nvGrpSpPr>
          <p:cNvPr id="718" name="Google Shape;718;p89"/>
          <p:cNvGrpSpPr/>
          <p:nvPr/>
        </p:nvGrpSpPr>
        <p:grpSpPr>
          <a:xfrm>
            <a:off x="527650" y="1380235"/>
            <a:ext cx="4176993" cy="2981337"/>
            <a:chOff x="1325694" y="1778089"/>
            <a:chExt cx="2926500" cy="2170297"/>
          </a:xfrm>
        </p:grpSpPr>
        <p:sp>
          <p:nvSpPr>
            <p:cNvPr id="719" name="Google Shape;719;p89"/>
            <p:cNvSpPr/>
            <p:nvPr/>
          </p:nvSpPr>
          <p:spPr>
            <a:xfrm>
              <a:off x="1325694" y="1778089"/>
              <a:ext cx="2926500" cy="1765500"/>
            </a:xfrm>
            <a:prstGeom prst="roundRect">
              <a:avLst>
                <a:gd fmla="val 400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89"/>
            <p:cNvSpPr/>
            <p:nvPr/>
          </p:nvSpPr>
          <p:spPr>
            <a:xfrm>
              <a:off x="2415044" y="3538776"/>
              <a:ext cx="747600" cy="341400"/>
            </a:xfrm>
            <a:prstGeom prst="trapezoid">
              <a:avLst>
                <a:gd fmla="val 25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89"/>
            <p:cNvSpPr/>
            <p:nvPr/>
          </p:nvSpPr>
          <p:spPr>
            <a:xfrm>
              <a:off x="2225019" y="3876385"/>
              <a:ext cx="1114800" cy="72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22" name="Google Shape;722;p89" title="gams_logo_büyü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63" y="1993750"/>
            <a:ext cx="4054174" cy="11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90"/>
          <p:cNvSpPr txBox="1"/>
          <p:nvPr>
            <p:ph type="title"/>
          </p:nvPr>
        </p:nvSpPr>
        <p:spPr>
          <a:xfrm>
            <a:off x="720000" y="602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en GAMS</a:t>
            </a:r>
            <a:endParaRPr/>
          </a:p>
        </p:txBody>
      </p:sp>
      <p:grpSp>
        <p:nvGrpSpPr>
          <p:cNvPr id="728" name="Google Shape;728;p90"/>
          <p:cNvGrpSpPr/>
          <p:nvPr/>
        </p:nvGrpSpPr>
        <p:grpSpPr>
          <a:xfrm>
            <a:off x="527650" y="1380235"/>
            <a:ext cx="4176993" cy="2981337"/>
            <a:chOff x="1325694" y="1778089"/>
            <a:chExt cx="2926500" cy="2170297"/>
          </a:xfrm>
        </p:grpSpPr>
        <p:sp>
          <p:nvSpPr>
            <p:cNvPr id="729" name="Google Shape;729;p90"/>
            <p:cNvSpPr/>
            <p:nvPr/>
          </p:nvSpPr>
          <p:spPr>
            <a:xfrm>
              <a:off x="1325694" y="1778089"/>
              <a:ext cx="2926500" cy="1765500"/>
            </a:xfrm>
            <a:prstGeom prst="roundRect">
              <a:avLst>
                <a:gd fmla="val 400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90"/>
            <p:cNvSpPr/>
            <p:nvPr/>
          </p:nvSpPr>
          <p:spPr>
            <a:xfrm>
              <a:off x="2415044" y="3538776"/>
              <a:ext cx="747600" cy="341400"/>
            </a:xfrm>
            <a:prstGeom prst="trapezoid">
              <a:avLst>
                <a:gd fmla="val 25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90"/>
            <p:cNvSpPr/>
            <p:nvPr/>
          </p:nvSpPr>
          <p:spPr>
            <a:xfrm>
              <a:off x="2225019" y="3876385"/>
              <a:ext cx="1114800" cy="72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32" name="Google Shape;732;p90" title="gams_logo_büyü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63" y="1993750"/>
            <a:ext cx="4054174" cy="11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90"/>
          <p:cNvPicPr preferRelativeResize="0"/>
          <p:nvPr/>
        </p:nvPicPr>
        <p:blipFill rotWithShape="1">
          <a:blip r:embed="rId4">
            <a:alphaModFix/>
          </a:blip>
          <a:srcRect b="0" l="0" r="0" t="74610"/>
          <a:stretch/>
        </p:blipFill>
        <p:spPr>
          <a:xfrm>
            <a:off x="589075" y="1993750"/>
            <a:ext cx="4054150" cy="1241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1"/>
          <p:cNvSpPr txBox="1"/>
          <p:nvPr>
            <p:ph type="title"/>
          </p:nvPr>
        </p:nvSpPr>
        <p:spPr>
          <a:xfrm>
            <a:off x="720000" y="602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en GAMS</a:t>
            </a:r>
            <a:endParaRPr/>
          </a:p>
        </p:txBody>
      </p:sp>
      <p:grpSp>
        <p:nvGrpSpPr>
          <p:cNvPr id="739" name="Google Shape;739;p91"/>
          <p:cNvGrpSpPr/>
          <p:nvPr/>
        </p:nvGrpSpPr>
        <p:grpSpPr>
          <a:xfrm>
            <a:off x="527650" y="1380235"/>
            <a:ext cx="4176993" cy="2981337"/>
            <a:chOff x="1325694" y="1778089"/>
            <a:chExt cx="2926500" cy="2170297"/>
          </a:xfrm>
        </p:grpSpPr>
        <p:sp>
          <p:nvSpPr>
            <p:cNvPr id="740" name="Google Shape;740;p91"/>
            <p:cNvSpPr/>
            <p:nvPr/>
          </p:nvSpPr>
          <p:spPr>
            <a:xfrm>
              <a:off x="1325694" y="1778089"/>
              <a:ext cx="2926500" cy="1765500"/>
            </a:xfrm>
            <a:prstGeom prst="roundRect">
              <a:avLst>
                <a:gd fmla="val 400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91"/>
            <p:cNvSpPr/>
            <p:nvPr/>
          </p:nvSpPr>
          <p:spPr>
            <a:xfrm>
              <a:off x="2415044" y="3538776"/>
              <a:ext cx="747600" cy="341400"/>
            </a:xfrm>
            <a:prstGeom prst="trapezoid">
              <a:avLst>
                <a:gd fmla="val 25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1"/>
            <p:cNvSpPr/>
            <p:nvPr/>
          </p:nvSpPr>
          <p:spPr>
            <a:xfrm>
              <a:off x="2225019" y="3876385"/>
              <a:ext cx="1114800" cy="72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3" name="Google Shape;74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365" y="1494035"/>
            <a:ext cx="3913667" cy="2209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625" y="1380225"/>
            <a:ext cx="2278544" cy="13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91"/>
          <p:cNvSpPr txBox="1"/>
          <p:nvPr>
            <p:ph idx="4294967295" type="subTitle"/>
          </p:nvPr>
        </p:nvSpPr>
        <p:spPr>
          <a:xfrm>
            <a:off x="4947025" y="2727175"/>
            <a:ext cx="3913800" cy="1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latin typeface="Dela Gothic One"/>
                <a:ea typeface="Dela Gothic One"/>
                <a:cs typeface="Dela Gothic One"/>
                <a:sym typeface="Dela Gothic One"/>
                <a:hlinkClick r:id="rId5"/>
              </a:rPr>
              <a:t>https://github.com/asevillasastre/GAMS-FLP-ACNUR</a:t>
            </a:r>
            <a:endParaRPr b="1" sz="2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92"/>
          <p:cNvSpPr txBox="1"/>
          <p:nvPr>
            <p:ph type="title"/>
          </p:nvPr>
        </p:nvSpPr>
        <p:spPr>
          <a:xfrm>
            <a:off x="720000" y="602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en GAMS</a:t>
            </a:r>
            <a:endParaRPr/>
          </a:p>
        </p:txBody>
      </p:sp>
      <p:pic>
        <p:nvPicPr>
          <p:cNvPr id="751" name="Google Shape;75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5" y="1623938"/>
            <a:ext cx="8839198" cy="1895635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92"/>
          <p:cNvSpPr/>
          <p:nvPr/>
        </p:nvSpPr>
        <p:spPr>
          <a:xfrm>
            <a:off x="1618350" y="2802588"/>
            <a:ext cx="663300" cy="461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92"/>
          <p:cNvSpPr/>
          <p:nvPr/>
        </p:nvSpPr>
        <p:spPr>
          <a:xfrm>
            <a:off x="2741775" y="2802588"/>
            <a:ext cx="445200" cy="461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92"/>
          <p:cNvSpPr/>
          <p:nvPr/>
        </p:nvSpPr>
        <p:spPr>
          <a:xfrm>
            <a:off x="5481750" y="2802588"/>
            <a:ext cx="770700" cy="461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92"/>
          <p:cNvSpPr/>
          <p:nvPr/>
        </p:nvSpPr>
        <p:spPr>
          <a:xfrm>
            <a:off x="6614775" y="2802588"/>
            <a:ext cx="445200" cy="461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6" name="Google Shape;756;p92"/>
          <p:cNvCxnSpPr>
            <a:stCxn id="752" idx="4"/>
            <a:endCxn id="753" idx="4"/>
          </p:cNvCxnSpPr>
          <p:nvPr/>
        </p:nvCxnSpPr>
        <p:spPr>
          <a:xfrm flipH="1" rot="-5400000">
            <a:off x="2456850" y="2757138"/>
            <a:ext cx="600" cy="1014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92"/>
          <p:cNvCxnSpPr/>
          <p:nvPr/>
        </p:nvCxnSpPr>
        <p:spPr>
          <a:xfrm flipH="1" rot="-5400000">
            <a:off x="6358725" y="2757138"/>
            <a:ext cx="600" cy="1014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8" name="Google Shape;75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063" y="3662373"/>
            <a:ext cx="814387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92"/>
          <p:cNvSpPr/>
          <p:nvPr/>
        </p:nvSpPr>
        <p:spPr>
          <a:xfrm>
            <a:off x="500075" y="3519575"/>
            <a:ext cx="3076500" cy="461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93"/>
          <p:cNvSpPr txBox="1"/>
          <p:nvPr>
            <p:ph type="title"/>
          </p:nvPr>
        </p:nvSpPr>
        <p:spPr>
          <a:xfrm>
            <a:off x="720000" y="602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en GAMS</a:t>
            </a:r>
            <a:endParaRPr/>
          </a:p>
        </p:txBody>
      </p:sp>
      <p:pic>
        <p:nvPicPr>
          <p:cNvPr id="765" name="Google Shape;76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1200"/>
            <a:ext cx="8839201" cy="1372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71750"/>
            <a:ext cx="8839199" cy="2283336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93"/>
          <p:cNvSpPr/>
          <p:nvPr/>
        </p:nvSpPr>
        <p:spPr>
          <a:xfrm>
            <a:off x="3328225" y="1821946"/>
            <a:ext cx="366900" cy="309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93"/>
          <p:cNvSpPr/>
          <p:nvPr/>
        </p:nvSpPr>
        <p:spPr>
          <a:xfrm>
            <a:off x="4297825" y="2003171"/>
            <a:ext cx="366900" cy="309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4"/>
          <p:cNvSpPr txBox="1"/>
          <p:nvPr>
            <p:ph type="title"/>
          </p:nvPr>
        </p:nvSpPr>
        <p:spPr>
          <a:xfrm>
            <a:off x="720000" y="602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en GAMS</a:t>
            </a:r>
            <a:endParaRPr/>
          </a:p>
        </p:txBody>
      </p:sp>
      <p:pic>
        <p:nvPicPr>
          <p:cNvPr id="774" name="Google Shape;77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778" y="2020290"/>
            <a:ext cx="7788450" cy="11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5"/>
          <p:cNvSpPr txBox="1"/>
          <p:nvPr>
            <p:ph type="title"/>
          </p:nvPr>
        </p:nvSpPr>
        <p:spPr>
          <a:xfrm>
            <a:off x="720000" y="602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en GAMS</a:t>
            </a:r>
            <a:endParaRPr/>
          </a:p>
        </p:txBody>
      </p:sp>
      <p:pic>
        <p:nvPicPr>
          <p:cNvPr id="780" name="Google Shape;78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75" y="2039075"/>
            <a:ext cx="3088843" cy="59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376" y="2584330"/>
            <a:ext cx="3088849" cy="520095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95"/>
          <p:cNvSpPr txBox="1"/>
          <p:nvPr>
            <p:ph idx="4294967295" type="subTitle"/>
          </p:nvPr>
        </p:nvSpPr>
        <p:spPr>
          <a:xfrm>
            <a:off x="3758200" y="2633925"/>
            <a:ext cx="5617200" cy="1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min F1 s.a. R1       —&gt; F1*</a:t>
            </a:r>
            <a:endParaRPr b="1" sz="3200"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b="1" lang="en" sz="3200"/>
              <a:t>min F2 s.a. R1, R2, y</a:t>
            </a:r>
            <a:endParaRPr b="1" sz="3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/>
              <a:t>F1 ≤ F1*</a:t>
            </a:r>
            <a:endParaRPr b="1" sz="23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6"/>
          <p:cNvSpPr/>
          <p:nvPr/>
        </p:nvSpPr>
        <p:spPr>
          <a:xfrm>
            <a:off x="3788675" y="442175"/>
            <a:ext cx="1877882" cy="1147608"/>
          </a:xfrm>
          <a:custGeom>
            <a:rect b="b" l="l" r="r" t="t"/>
            <a:pathLst>
              <a:path extrusionOk="0" h="24306" w="39773">
                <a:moveTo>
                  <a:pt x="13749" y="0"/>
                </a:moveTo>
                <a:lnTo>
                  <a:pt x="39773" y="16941"/>
                </a:lnTo>
                <a:lnTo>
                  <a:pt x="11784" y="24306"/>
                </a:lnTo>
                <a:lnTo>
                  <a:pt x="0" y="149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8" name="Google Shape;788;p96"/>
          <p:cNvSpPr txBox="1"/>
          <p:nvPr>
            <p:ph type="title"/>
          </p:nvPr>
        </p:nvSpPr>
        <p:spPr>
          <a:xfrm>
            <a:off x="1581150" y="1915325"/>
            <a:ext cx="5981700" cy="102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Caso de estudio</a:t>
            </a:r>
            <a:endParaRPr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propuesto</a:t>
            </a:r>
            <a:endParaRPr sz="4100"/>
          </a:p>
        </p:txBody>
      </p:sp>
      <p:sp>
        <p:nvSpPr>
          <p:cNvPr id="789" name="Google Shape;789;p96"/>
          <p:cNvSpPr txBox="1"/>
          <p:nvPr>
            <p:ph idx="2" type="title"/>
          </p:nvPr>
        </p:nvSpPr>
        <p:spPr>
          <a:xfrm>
            <a:off x="3947250" y="627800"/>
            <a:ext cx="1249500" cy="9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04</a:t>
            </a:r>
            <a:endParaRPr sz="45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97" title="1200x680_000_par29849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888" y="714150"/>
            <a:ext cx="6556224" cy="37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98" title="1200x680_000_par29849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888" y="714150"/>
            <a:ext cx="6556224" cy="37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8125" y="3033975"/>
            <a:ext cx="4324751" cy="5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9691" y="81650"/>
            <a:ext cx="1504601" cy="7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99"/>
          <p:cNvSpPr txBox="1"/>
          <p:nvPr/>
        </p:nvSpPr>
        <p:spPr>
          <a:xfrm>
            <a:off x="4100425" y="4467325"/>
            <a:ext cx="42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https://www.msf.es/msf-en-el-mundo</a:t>
            </a:r>
            <a:endParaRPr sz="1800"/>
          </a:p>
        </p:txBody>
      </p:sp>
      <p:pic>
        <p:nvPicPr>
          <p:cNvPr id="807" name="Google Shape;807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675" y="843225"/>
            <a:ext cx="7542657" cy="3601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286" y="283575"/>
            <a:ext cx="2167425" cy="106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750" y="1424638"/>
            <a:ext cx="7254512" cy="24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00"/>
          <p:cNvSpPr txBox="1"/>
          <p:nvPr/>
        </p:nvSpPr>
        <p:spPr>
          <a:xfrm>
            <a:off x="1259425" y="3872650"/>
            <a:ext cx="850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hlinkClick r:id="rId5"/>
              </a:rPr>
              <a:t>https://www.msf.es/quienes-somos/como-enviamos-ayuda</a:t>
            </a:r>
            <a:endParaRPr sz="19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01"/>
          <p:cNvSpPr/>
          <p:nvPr/>
        </p:nvSpPr>
        <p:spPr>
          <a:xfrm>
            <a:off x="758325" y="1470763"/>
            <a:ext cx="469350" cy="522575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20" name="Google Shape;820;p101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Centros logísticos MSF</a:t>
            </a:r>
            <a:endParaRPr/>
          </a:p>
        </p:txBody>
      </p:sp>
      <p:sp>
        <p:nvSpPr>
          <p:cNvPr id="821" name="Google Shape;821;p101"/>
          <p:cNvSpPr txBox="1"/>
          <p:nvPr/>
        </p:nvSpPr>
        <p:spPr>
          <a:xfrm>
            <a:off x="1228675" y="1500650"/>
            <a:ext cx="22863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Ámsterdam</a:t>
            </a:r>
            <a:endParaRPr sz="2000">
              <a:solidFill>
                <a:schemeClr val="accent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822" name="Google Shape;822;p101"/>
          <p:cNvSpPr txBox="1"/>
          <p:nvPr/>
        </p:nvSpPr>
        <p:spPr>
          <a:xfrm>
            <a:off x="1216212" y="2333127"/>
            <a:ext cx="15648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Bruselas</a:t>
            </a:r>
            <a:endParaRPr sz="2000">
              <a:solidFill>
                <a:schemeClr val="dk2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823" name="Google Shape;823;p101"/>
          <p:cNvSpPr txBox="1"/>
          <p:nvPr/>
        </p:nvSpPr>
        <p:spPr>
          <a:xfrm>
            <a:off x="1216200" y="3141830"/>
            <a:ext cx="15648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Burdeos</a:t>
            </a:r>
            <a:endParaRPr sz="2000">
              <a:solidFill>
                <a:schemeClr val="accent3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grpSp>
        <p:nvGrpSpPr>
          <p:cNvPr id="824" name="Google Shape;824;p101"/>
          <p:cNvGrpSpPr/>
          <p:nvPr/>
        </p:nvGrpSpPr>
        <p:grpSpPr>
          <a:xfrm>
            <a:off x="3080726" y="1528630"/>
            <a:ext cx="5304441" cy="2825869"/>
            <a:chOff x="233350" y="949250"/>
            <a:chExt cx="7137300" cy="3802300"/>
          </a:xfrm>
        </p:grpSpPr>
        <p:sp>
          <p:nvSpPr>
            <p:cNvPr id="825" name="Google Shape;825;p101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01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01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01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01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01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01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01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01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01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01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01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01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01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01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01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01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01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01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01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01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01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01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01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01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01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01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01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01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01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01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01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01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01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01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01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01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01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01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01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01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01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01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01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01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01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01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01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01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01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01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6" name="Google Shape;876;p101"/>
          <p:cNvSpPr/>
          <p:nvPr/>
        </p:nvSpPr>
        <p:spPr>
          <a:xfrm flipH="1">
            <a:off x="903711" y="157144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01"/>
          <p:cNvSpPr/>
          <p:nvPr/>
        </p:nvSpPr>
        <p:spPr>
          <a:xfrm rot="9900040">
            <a:off x="741156" y="2203248"/>
            <a:ext cx="469336" cy="522559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878" name="Google Shape;878;p101"/>
          <p:cNvSpPr/>
          <p:nvPr/>
        </p:nvSpPr>
        <p:spPr>
          <a:xfrm flipH="1">
            <a:off x="886536" y="2403925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01"/>
          <p:cNvSpPr/>
          <p:nvPr/>
        </p:nvSpPr>
        <p:spPr>
          <a:xfrm rot="5914838">
            <a:off x="693239" y="3033764"/>
            <a:ext cx="469347" cy="522571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880" name="Google Shape;880;p101"/>
          <p:cNvSpPr/>
          <p:nvPr/>
        </p:nvSpPr>
        <p:spPr>
          <a:xfrm flipH="1">
            <a:off x="891611" y="321262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1" name="Google Shape;881;p101"/>
          <p:cNvGrpSpPr/>
          <p:nvPr/>
        </p:nvGrpSpPr>
        <p:grpSpPr>
          <a:xfrm>
            <a:off x="5422086" y="1905041"/>
            <a:ext cx="225903" cy="247232"/>
            <a:chOff x="4078474" y="2212526"/>
            <a:chExt cx="305688" cy="340353"/>
          </a:xfrm>
        </p:grpSpPr>
        <p:sp>
          <p:nvSpPr>
            <p:cNvPr id="882" name="Google Shape;882;p101"/>
            <p:cNvSpPr/>
            <p:nvPr/>
          </p:nvSpPr>
          <p:spPr>
            <a:xfrm>
              <a:off x="4078474" y="2212526"/>
              <a:ext cx="305688" cy="340353"/>
            </a:xfrm>
            <a:custGeom>
              <a:rect b="b" l="l" r="r" t="t"/>
              <a:pathLst>
                <a:path extrusionOk="0" h="20903" w="18774">
                  <a:moveTo>
                    <a:pt x="4645" y="0"/>
                  </a:moveTo>
                  <a:lnTo>
                    <a:pt x="0" y="2516"/>
                  </a:lnTo>
                  <a:lnTo>
                    <a:pt x="4258" y="20903"/>
                  </a:lnTo>
                  <a:lnTo>
                    <a:pt x="18774" y="12387"/>
                  </a:lnTo>
                  <a:lnTo>
                    <a:pt x="17806" y="1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83" name="Google Shape;883;p101"/>
            <p:cNvSpPr/>
            <p:nvPr/>
          </p:nvSpPr>
          <p:spPr>
            <a:xfrm flipH="1">
              <a:off x="4173118" y="2277402"/>
              <a:ext cx="116399" cy="17128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4" name="Google Shape;884;p101"/>
          <p:cNvSpPr/>
          <p:nvPr/>
        </p:nvSpPr>
        <p:spPr>
          <a:xfrm rot="9961012">
            <a:off x="5292631" y="2174458"/>
            <a:ext cx="221043" cy="230971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885" name="Google Shape;885;p101"/>
          <p:cNvSpPr/>
          <p:nvPr/>
        </p:nvSpPr>
        <p:spPr>
          <a:xfrm flipH="1">
            <a:off x="5360637" y="2257331"/>
            <a:ext cx="84805" cy="115497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6" name="Google Shape;886;p101"/>
          <p:cNvGrpSpPr/>
          <p:nvPr/>
        </p:nvGrpSpPr>
        <p:grpSpPr>
          <a:xfrm>
            <a:off x="5482545" y="2132753"/>
            <a:ext cx="368287" cy="247211"/>
            <a:chOff x="4685573" y="1424598"/>
            <a:chExt cx="380148" cy="351152"/>
          </a:xfrm>
        </p:grpSpPr>
        <p:sp>
          <p:nvSpPr>
            <p:cNvPr id="887" name="Google Shape;887;p101"/>
            <p:cNvSpPr/>
            <p:nvPr/>
          </p:nvSpPr>
          <p:spPr>
            <a:xfrm rot="5915126">
              <a:off x="4723634" y="1430897"/>
              <a:ext cx="304025" cy="338554"/>
            </a:xfrm>
            <a:custGeom>
              <a:rect b="b" l="l" r="r" t="t"/>
              <a:pathLst>
                <a:path extrusionOk="0" h="20903" w="18774">
                  <a:moveTo>
                    <a:pt x="4645" y="0"/>
                  </a:moveTo>
                  <a:lnTo>
                    <a:pt x="0" y="2516"/>
                  </a:lnTo>
                  <a:lnTo>
                    <a:pt x="4258" y="20903"/>
                  </a:lnTo>
                  <a:lnTo>
                    <a:pt x="18774" y="12387"/>
                  </a:lnTo>
                  <a:lnTo>
                    <a:pt x="17806" y="19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88" name="Google Shape;888;p101"/>
            <p:cNvSpPr/>
            <p:nvPr/>
          </p:nvSpPr>
          <p:spPr>
            <a:xfrm flipH="1">
              <a:off x="4856926" y="1515002"/>
              <a:ext cx="115733" cy="191843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9" name="Google Shape;889;p101"/>
          <p:cNvSpPr/>
          <p:nvPr/>
        </p:nvSpPr>
        <p:spPr>
          <a:xfrm flipH="1">
            <a:off x="6334103" y="2736869"/>
            <a:ext cx="97775" cy="135073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01"/>
          <p:cNvSpPr txBox="1"/>
          <p:nvPr/>
        </p:nvSpPr>
        <p:spPr>
          <a:xfrm>
            <a:off x="1263200" y="3930255"/>
            <a:ext cx="15648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6B6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Dubái</a:t>
            </a:r>
            <a:endParaRPr sz="2000">
              <a:solidFill>
                <a:srgbClr val="FF6B65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891" name="Google Shape;891;p101"/>
          <p:cNvSpPr/>
          <p:nvPr/>
        </p:nvSpPr>
        <p:spPr>
          <a:xfrm flipH="1">
            <a:off x="938611" y="4001052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01"/>
          <p:cNvSpPr/>
          <p:nvPr/>
        </p:nvSpPr>
        <p:spPr>
          <a:xfrm rot="9961012">
            <a:off x="6272481" y="2688908"/>
            <a:ext cx="221043" cy="230971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rgbClr val="FF6B65"/>
          </a:solidFill>
          <a:ln>
            <a:noFill/>
          </a:ln>
        </p:spPr>
      </p:sp>
      <p:sp>
        <p:nvSpPr>
          <p:cNvPr id="893" name="Google Shape;893;p101"/>
          <p:cNvSpPr/>
          <p:nvPr/>
        </p:nvSpPr>
        <p:spPr>
          <a:xfrm flipH="1">
            <a:off x="6340599" y="2746668"/>
            <a:ext cx="84805" cy="115497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01"/>
          <p:cNvSpPr/>
          <p:nvPr/>
        </p:nvSpPr>
        <p:spPr>
          <a:xfrm rot="9900040">
            <a:off x="793231" y="3760248"/>
            <a:ext cx="469336" cy="522559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rgbClr val="FF6B65"/>
          </a:solidFill>
          <a:ln>
            <a:noFill/>
          </a:ln>
        </p:spPr>
      </p:sp>
      <p:sp>
        <p:nvSpPr>
          <p:cNvPr id="895" name="Google Shape;895;p101"/>
          <p:cNvSpPr/>
          <p:nvPr/>
        </p:nvSpPr>
        <p:spPr>
          <a:xfrm flipH="1">
            <a:off x="938611" y="3923375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02"/>
          <p:cNvSpPr/>
          <p:nvPr/>
        </p:nvSpPr>
        <p:spPr>
          <a:xfrm>
            <a:off x="843800" y="1990125"/>
            <a:ext cx="469350" cy="522575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rgbClr val="F1C232"/>
          </a:solidFill>
          <a:ln>
            <a:noFill/>
          </a:ln>
        </p:spPr>
      </p:sp>
      <p:sp>
        <p:nvSpPr>
          <p:cNvPr id="901" name="Google Shape;901;p102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Centros logísticos MSF</a:t>
            </a:r>
            <a:endParaRPr/>
          </a:p>
        </p:txBody>
      </p:sp>
      <p:grpSp>
        <p:nvGrpSpPr>
          <p:cNvPr id="902" name="Google Shape;902;p102"/>
          <p:cNvGrpSpPr/>
          <p:nvPr/>
        </p:nvGrpSpPr>
        <p:grpSpPr>
          <a:xfrm>
            <a:off x="3080726" y="1528630"/>
            <a:ext cx="5304441" cy="2825869"/>
            <a:chOff x="233350" y="949250"/>
            <a:chExt cx="7137300" cy="3802300"/>
          </a:xfrm>
        </p:grpSpPr>
        <p:sp>
          <p:nvSpPr>
            <p:cNvPr id="903" name="Google Shape;903;p102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02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02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02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02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02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02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02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02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02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02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02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02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02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02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02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02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02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02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02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02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02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02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02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02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02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02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02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02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02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02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02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02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02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02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02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02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02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02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02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02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02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02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02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02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02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02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02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02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02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02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4" name="Google Shape;954;p102"/>
          <p:cNvSpPr/>
          <p:nvPr/>
        </p:nvSpPr>
        <p:spPr>
          <a:xfrm flipH="1">
            <a:off x="989186" y="2090810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02"/>
          <p:cNvSpPr/>
          <p:nvPr/>
        </p:nvSpPr>
        <p:spPr>
          <a:xfrm rot="9900040">
            <a:off x="826631" y="2722610"/>
            <a:ext cx="469336" cy="522559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rgbClr val="9900FF"/>
          </a:solidFill>
          <a:ln>
            <a:noFill/>
          </a:ln>
        </p:spPr>
      </p:sp>
      <p:sp>
        <p:nvSpPr>
          <p:cNvPr id="956" name="Google Shape;956;p102"/>
          <p:cNvSpPr/>
          <p:nvPr/>
        </p:nvSpPr>
        <p:spPr>
          <a:xfrm flipH="1">
            <a:off x="972011" y="292328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102"/>
          <p:cNvSpPr/>
          <p:nvPr/>
        </p:nvSpPr>
        <p:spPr>
          <a:xfrm rot="5914838">
            <a:off x="778714" y="3553126"/>
            <a:ext cx="469347" cy="522571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958" name="Google Shape;958;p102"/>
          <p:cNvSpPr/>
          <p:nvPr/>
        </p:nvSpPr>
        <p:spPr>
          <a:xfrm flipH="1">
            <a:off x="977086" y="3731990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9" name="Google Shape;959;p102"/>
          <p:cNvGrpSpPr/>
          <p:nvPr/>
        </p:nvGrpSpPr>
        <p:grpSpPr>
          <a:xfrm>
            <a:off x="5422086" y="1905041"/>
            <a:ext cx="225903" cy="247232"/>
            <a:chOff x="4078474" y="2212526"/>
            <a:chExt cx="305688" cy="340353"/>
          </a:xfrm>
        </p:grpSpPr>
        <p:sp>
          <p:nvSpPr>
            <p:cNvPr id="960" name="Google Shape;960;p102"/>
            <p:cNvSpPr/>
            <p:nvPr/>
          </p:nvSpPr>
          <p:spPr>
            <a:xfrm>
              <a:off x="4078474" y="2212526"/>
              <a:ext cx="305688" cy="340353"/>
            </a:xfrm>
            <a:custGeom>
              <a:rect b="b" l="l" r="r" t="t"/>
              <a:pathLst>
                <a:path extrusionOk="0" h="20903" w="18774">
                  <a:moveTo>
                    <a:pt x="4645" y="0"/>
                  </a:moveTo>
                  <a:lnTo>
                    <a:pt x="0" y="2516"/>
                  </a:lnTo>
                  <a:lnTo>
                    <a:pt x="4258" y="20903"/>
                  </a:lnTo>
                  <a:lnTo>
                    <a:pt x="18774" y="12387"/>
                  </a:lnTo>
                  <a:lnTo>
                    <a:pt x="17806" y="1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61" name="Google Shape;961;p102"/>
            <p:cNvSpPr/>
            <p:nvPr/>
          </p:nvSpPr>
          <p:spPr>
            <a:xfrm flipH="1">
              <a:off x="4173118" y="2277402"/>
              <a:ext cx="116399" cy="17128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2" name="Google Shape;962;p102"/>
          <p:cNvSpPr/>
          <p:nvPr/>
        </p:nvSpPr>
        <p:spPr>
          <a:xfrm rot="9961012">
            <a:off x="5292631" y="2174458"/>
            <a:ext cx="221043" cy="230971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963" name="Google Shape;963;p102"/>
          <p:cNvSpPr/>
          <p:nvPr/>
        </p:nvSpPr>
        <p:spPr>
          <a:xfrm flipH="1">
            <a:off x="5360637" y="2257331"/>
            <a:ext cx="84805" cy="115497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4" name="Google Shape;964;p102"/>
          <p:cNvGrpSpPr/>
          <p:nvPr/>
        </p:nvGrpSpPr>
        <p:grpSpPr>
          <a:xfrm>
            <a:off x="5482545" y="2132753"/>
            <a:ext cx="368287" cy="247211"/>
            <a:chOff x="4685573" y="1424598"/>
            <a:chExt cx="380148" cy="351152"/>
          </a:xfrm>
        </p:grpSpPr>
        <p:sp>
          <p:nvSpPr>
            <p:cNvPr id="965" name="Google Shape;965;p102"/>
            <p:cNvSpPr/>
            <p:nvPr/>
          </p:nvSpPr>
          <p:spPr>
            <a:xfrm rot="5915126">
              <a:off x="4723634" y="1430897"/>
              <a:ext cx="304025" cy="338554"/>
            </a:xfrm>
            <a:custGeom>
              <a:rect b="b" l="l" r="r" t="t"/>
              <a:pathLst>
                <a:path extrusionOk="0" h="20903" w="18774">
                  <a:moveTo>
                    <a:pt x="4645" y="0"/>
                  </a:moveTo>
                  <a:lnTo>
                    <a:pt x="0" y="2516"/>
                  </a:lnTo>
                  <a:lnTo>
                    <a:pt x="4258" y="20903"/>
                  </a:lnTo>
                  <a:lnTo>
                    <a:pt x="18774" y="12387"/>
                  </a:lnTo>
                  <a:lnTo>
                    <a:pt x="17806" y="19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66" name="Google Shape;966;p102"/>
            <p:cNvSpPr/>
            <p:nvPr/>
          </p:nvSpPr>
          <p:spPr>
            <a:xfrm flipH="1">
              <a:off x="4856926" y="1515002"/>
              <a:ext cx="115733" cy="191843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02"/>
          <p:cNvSpPr/>
          <p:nvPr/>
        </p:nvSpPr>
        <p:spPr>
          <a:xfrm flipH="1">
            <a:off x="6334103" y="2736869"/>
            <a:ext cx="97775" cy="135073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02"/>
          <p:cNvSpPr/>
          <p:nvPr/>
        </p:nvSpPr>
        <p:spPr>
          <a:xfrm rot="9961012">
            <a:off x="6272481" y="2688908"/>
            <a:ext cx="221043" cy="230971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rgbClr val="FF6B65"/>
          </a:solidFill>
          <a:ln>
            <a:noFill/>
          </a:ln>
        </p:spPr>
      </p:sp>
      <p:sp>
        <p:nvSpPr>
          <p:cNvPr id="969" name="Google Shape;969;p102"/>
          <p:cNvSpPr/>
          <p:nvPr/>
        </p:nvSpPr>
        <p:spPr>
          <a:xfrm flipH="1">
            <a:off x="6340599" y="2746668"/>
            <a:ext cx="84805" cy="115497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02"/>
          <p:cNvSpPr txBox="1"/>
          <p:nvPr/>
        </p:nvSpPr>
        <p:spPr>
          <a:xfrm>
            <a:off x="1313150" y="2038775"/>
            <a:ext cx="22863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1C232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Marruecos</a:t>
            </a:r>
            <a:endParaRPr sz="2000">
              <a:solidFill>
                <a:srgbClr val="F1C232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971" name="Google Shape;971;p102"/>
          <p:cNvSpPr txBox="1"/>
          <p:nvPr/>
        </p:nvSpPr>
        <p:spPr>
          <a:xfrm>
            <a:off x="1355612" y="2847477"/>
            <a:ext cx="15648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900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Ghana</a:t>
            </a:r>
            <a:endParaRPr sz="2000">
              <a:solidFill>
                <a:srgbClr val="9900FF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972" name="Google Shape;972;p102"/>
          <p:cNvSpPr txBox="1"/>
          <p:nvPr/>
        </p:nvSpPr>
        <p:spPr>
          <a:xfrm>
            <a:off x="1355600" y="3656175"/>
            <a:ext cx="18516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AA84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Sudáfrica</a:t>
            </a:r>
            <a:endParaRPr sz="2000">
              <a:solidFill>
                <a:srgbClr val="6AA84F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973" name="Google Shape;973;p102"/>
          <p:cNvSpPr/>
          <p:nvPr/>
        </p:nvSpPr>
        <p:spPr>
          <a:xfrm>
            <a:off x="5242675" y="2296400"/>
            <a:ext cx="239885" cy="275345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rgbClr val="F1C232"/>
          </a:solidFill>
          <a:ln>
            <a:noFill/>
          </a:ln>
        </p:spPr>
      </p:sp>
      <p:sp>
        <p:nvSpPr>
          <p:cNvPr id="974" name="Google Shape;974;p102"/>
          <p:cNvSpPr/>
          <p:nvPr/>
        </p:nvSpPr>
        <p:spPr>
          <a:xfrm flipH="1">
            <a:off x="5316777" y="2349446"/>
            <a:ext cx="91456" cy="138499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02"/>
          <p:cNvSpPr/>
          <p:nvPr/>
        </p:nvSpPr>
        <p:spPr>
          <a:xfrm rot="10103266">
            <a:off x="5101683" y="2945258"/>
            <a:ext cx="289603" cy="256730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rgbClr val="9900FF"/>
          </a:solidFill>
          <a:ln>
            <a:noFill/>
          </a:ln>
        </p:spPr>
      </p:sp>
      <p:sp>
        <p:nvSpPr>
          <p:cNvPr id="976" name="Google Shape;976;p102"/>
          <p:cNvSpPr/>
          <p:nvPr/>
        </p:nvSpPr>
        <p:spPr>
          <a:xfrm flipH="1">
            <a:off x="5190634" y="3044537"/>
            <a:ext cx="111743" cy="126264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102"/>
          <p:cNvSpPr/>
          <p:nvPr/>
        </p:nvSpPr>
        <p:spPr>
          <a:xfrm rot="5924346">
            <a:off x="5799053" y="3696795"/>
            <a:ext cx="260415" cy="295203"/>
          </a:xfrm>
          <a:custGeom>
            <a:rect b="b" l="l" r="r" t="t"/>
            <a:pathLst>
              <a:path extrusionOk="0" h="20903" w="18774">
                <a:moveTo>
                  <a:pt x="4645" y="0"/>
                </a:moveTo>
                <a:lnTo>
                  <a:pt x="0" y="2516"/>
                </a:lnTo>
                <a:lnTo>
                  <a:pt x="4258" y="20903"/>
                </a:lnTo>
                <a:lnTo>
                  <a:pt x="18774" y="12387"/>
                </a:lnTo>
                <a:lnTo>
                  <a:pt x="17806" y="193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978" name="Google Shape;978;p102"/>
          <p:cNvSpPr/>
          <p:nvPr/>
        </p:nvSpPr>
        <p:spPr>
          <a:xfrm flipH="1">
            <a:off x="5908903" y="3798700"/>
            <a:ext cx="100768" cy="145350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103" title="_S8A8798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288" y="644425"/>
            <a:ext cx="5783425" cy="385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04"/>
          <p:cNvSpPr txBox="1"/>
          <p:nvPr>
            <p:ph type="title"/>
          </p:nvPr>
        </p:nvSpPr>
        <p:spPr>
          <a:xfrm>
            <a:off x="720000" y="1524175"/>
            <a:ext cx="5268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 vamos a</a:t>
            </a:r>
            <a:endParaRPr/>
          </a:p>
        </p:txBody>
      </p:sp>
      <p:pic>
        <p:nvPicPr>
          <p:cNvPr id="989" name="Google Shape;989;p104" title="gams_logo_büyü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800" y="2414050"/>
            <a:ext cx="3211651" cy="9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05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Frontera de Pareto</a:t>
            </a:r>
            <a:endParaRPr/>
          </a:p>
        </p:txBody>
      </p:sp>
      <p:pic>
        <p:nvPicPr>
          <p:cNvPr id="995" name="Google Shape;99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50" y="1837000"/>
            <a:ext cx="8267501" cy="171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105"/>
          <p:cNvSpPr/>
          <p:nvPr/>
        </p:nvSpPr>
        <p:spPr>
          <a:xfrm>
            <a:off x="7105775" y="2361850"/>
            <a:ext cx="2088300" cy="13941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06"/>
          <p:cNvSpPr txBox="1"/>
          <p:nvPr>
            <p:ph type="title"/>
          </p:nvPr>
        </p:nvSpPr>
        <p:spPr>
          <a:xfrm>
            <a:off x="720000" y="813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Frontera de Pareto</a:t>
            </a:r>
            <a:endParaRPr/>
          </a:p>
        </p:txBody>
      </p:sp>
      <p:pic>
        <p:nvPicPr>
          <p:cNvPr id="1002" name="Google Shape;1002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50" y="1837000"/>
            <a:ext cx="8267501" cy="171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106"/>
          <p:cNvSpPr/>
          <p:nvPr/>
        </p:nvSpPr>
        <p:spPr>
          <a:xfrm>
            <a:off x="7105775" y="2361850"/>
            <a:ext cx="2088300" cy="13941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106"/>
          <p:cNvSpPr txBox="1"/>
          <p:nvPr>
            <p:ph idx="4294967295" type="subTitle"/>
          </p:nvPr>
        </p:nvSpPr>
        <p:spPr>
          <a:xfrm>
            <a:off x="2762425" y="3853900"/>
            <a:ext cx="5162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¡</a:t>
            </a:r>
            <a:r>
              <a:rPr lang="en" sz="2300"/>
              <a:t>Podría hacerse variando tiempos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y optimizando costes!</a:t>
            </a:r>
            <a:endParaRPr sz="23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107" title="Frontera_Pareto_obj1_vs_obj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150" y="751375"/>
            <a:ext cx="5617699" cy="364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107"/>
          <p:cNvSpPr txBox="1"/>
          <p:nvPr/>
        </p:nvSpPr>
        <p:spPr>
          <a:xfrm>
            <a:off x="4124725" y="4392125"/>
            <a:ext cx="1379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Coste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107"/>
          <p:cNvSpPr txBox="1"/>
          <p:nvPr/>
        </p:nvSpPr>
        <p:spPr>
          <a:xfrm rot="-5400000">
            <a:off x="26475" y="2057950"/>
            <a:ext cx="26499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Tiempo de entrega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p108"/>
          <p:cNvPicPr preferRelativeResize="0"/>
          <p:nvPr/>
        </p:nvPicPr>
        <p:blipFill rotWithShape="1">
          <a:blip r:embed="rId3">
            <a:alphaModFix/>
          </a:blip>
          <a:srcRect b="0" l="0" r="61445" t="0"/>
          <a:stretch/>
        </p:blipFill>
        <p:spPr>
          <a:xfrm>
            <a:off x="1848725" y="459675"/>
            <a:ext cx="5446549" cy="418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09"/>
          <p:cNvSpPr txBox="1"/>
          <p:nvPr>
            <p:ph type="title"/>
          </p:nvPr>
        </p:nvSpPr>
        <p:spPr>
          <a:xfrm>
            <a:off x="719988" y="1222275"/>
            <a:ext cx="7704000" cy="22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Presupuesto</a:t>
            </a:r>
            <a:endParaRPr sz="3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Liquidiez</a:t>
            </a:r>
            <a:endParaRPr sz="3600"/>
          </a:p>
        </p:txBody>
      </p:sp>
      <p:pic>
        <p:nvPicPr>
          <p:cNvPr id="1022" name="Google Shape;1022;p109" title="ai-generated-8998102_6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8227" y="2094452"/>
            <a:ext cx="1267550" cy="9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10"/>
          <p:cNvSpPr/>
          <p:nvPr/>
        </p:nvSpPr>
        <p:spPr>
          <a:xfrm>
            <a:off x="808275" y="2512050"/>
            <a:ext cx="3453475" cy="1014925"/>
          </a:xfrm>
          <a:custGeom>
            <a:rect b="b" l="l" r="r" t="t"/>
            <a:pathLst>
              <a:path extrusionOk="0" h="40597" w="138139">
                <a:moveTo>
                  <a:pt x="15614" y="0"/>
                </a:moveTo>
                <a:lnTo>
                  <a:pt x="0" y="20207"/>
                </a:lnTo>
                <a:lnTo>
                  <a:pt x="15246" y="40597"/>
                </a:lnTo>
                <a:lnTo>
                  <a:pt x="133730" y="35673"/>
                </a:lnTo>
                <a:lnTo>
                  <a:pt x="138139" y="77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28" name="Google Shape;1028;p110"/>
          <p:cNvSpPr/>
          <p:nvPr/>
        </p:nvSpPr>
        <p:spPr>
          <a:xfrm>
            <a:off x="4564850" y="2502875"/>
            <a:ext cx="4027550" cy="1015825"/>
          </a:xfrm>
          <a:custGeom>
            <a:rect b="b" l="l" r="r" t="t"/>
            <a:pathLst>
              <a:path extrusionOk="0" h="40633" w="161102">
                <a:moveTo>
                  <a:pt x="154122" y="36739"/>
                </a:moveTo>
                <a:lnTo>
                  <a:pt x="161102" y="6245"/>
                </a:lnTo>
                <a:lnTo>
                  <a:pt x="58232" y="0"/>
                </a:lnTo>
                <a:lnTo>
                  <a:pt x="0" y="13409"/>
                </a:lnTo>
                <a:lnTo>
                  <a:pt x="1457" y="40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29" name="Google Shape;1029;p110"/>
          <p:cNvSpPr/>
          <p:nvPr/>
        </p:nvSpPr>
        <p:spPr>
          <a:xfrm>
            <a:off x="2562575" y="923075"/>
            <a:ext cx="4059675" cy="932250"/>
          </a:xfrm>
          <a:custGeom>
            <a:rect b="b" l="l" r="r" t="t"/>
            <a:pathLst>
              <a:path extrusionOk="0" h="37290" w="162387">
                <a:moveTo>
                  <a:pt x="12124" y="2204"/>
                </a:moveTo>
                <a:lnTo>
                  <a:pt x="0" y="25166"/>
                </a:lnTo>
                <a:lnTo>
                  <a:pt x="4408" y="37290"/>
                </a:lnTo>
                <a:lnTo>
                  <a:pt x="162387" y="32331"/>
                </a:lnTo>
                <a:lnTo>
                  <a:pt x="1521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30" name="Google Shape;1030;p110"/>
          <p:cNvSpPr txBox="1"/>
          <p:nvPr>
            <p:ph type="title"/>
          </p:nvPr>
        </p:nvSpPr>
        <p:spPr>
          <a:xfrm>
            <a:off x="2734050" y="1293000"/>
            <a:ext cx="38355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https://www.sciencedirect.com/science/article/pii/S0272696316300444</a:t>
            </a:r>
            <a:endParaRPr sz="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10"/>
          <p:cNvSpPr txBox="1"/>
          <p:nvPr>
            <p:ph idx="1" type="subTitle"/>
          </p:nvPr>
        </p:nvSpPr>
        <p:spPr>
          <a:xfrm>
            <a:off x="2734050" y="1814375"/>
            <a:ext cx="36759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en el que se basa esta presentación</a:t>
            </a:r>
            <a:endParaRPr/>
          </a:p>
        </p:txBody>
      </p:sp>
      <p:sp>
        <p:nvSpPr>
          <p:cNvPr id="1032" name="Google Shape;1032;p110"/>
          <p:cNvSpPr txBox="1"/>
          <p:nvPr>
            <p:ph idx="2" type="title"/>
          </p:nvPr>
        </p:nvSpPr>
        <p:spPr>
          <a:xfrm>
            <a:off x="1166950" y="2649163"/>
            <a:ext cx="29031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https://github.com/asevillasastre/GAMS-FLP-ACNUR</a:t>
            </a:r>
            <a:endParaRPr sz="3600"/>
          </a:p>
        </p:txBody>
      </p:sp>
      <p:sp>
        <p:nvSpPr>
          <p:cNvPr id="1033" name="Google Shape;1033;p110"/>
          <p:cNvSpPr txBox="1"/>
          <p:nvPr>
            <p:ph idx="3" type="subTitle"/>
          </p:nvPr>
        </p:nvSpPr>
        <p:spPr>
          <a:xfrm>
            <a:off x="715100" y="3469000"/>
            <a:ext cx="36759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proyecto en GitHub</a:t>
            </a:r>
            <a:endParaRPr/>
          </a:p>
        </p:txBody>
      </p:sp>
      <p:sp>
        <p:nvSpPr>
          <p:cNvPr id="1034" name="Google Shape;1034;p110"/>
          <p:cNvSpPr txBox="1"/>
          <p:nvPr>
            <p:ph idx="4" type="title"/>
          </p:nvPr>
        </p:nvSpPr>
        <p:spPr>
          <a:xfrm>
            <a:off x="5156800" y="2649175"/>
            <a:ext cx="3027900" cy="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hlinkClick r:id="rId5"/>
              </a:rPr>
              <a:t>https://www.msf.es/quienes-somos</a:t>
            </a:r>
            <a:endParaRPr sz="1900"/>
          </a:p>
        </p:txBody>
      </p:sp>
      <p:sp>
        <p:nvSpPr>
          <p:cNvPr id="1035" name="Google Shape;1035;p110"/>
          <p:cNvSpPr txBox="1"/>
          <p:nvPr>
            <p:ph idx="5" type="subTitle"/>
          </p:nvPr>
        </p:nvSpPr>
        <p:spPr>
          <a:xfrm>
            <a:off x="4753000" y="3469000"/>
            <a:ext cx="36759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Web de Médecins Sans Frontières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111"/>
          <p:cNvSpPr txBox="1"/>
          <p:nvPr>
            <p:ph type="ctrTitle"/>
          </p:nvPr>
        </p:nvSpPr>
        <p:spPr>
          <a:xfrm>
            <a:off x="2429925" y="10637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</a:t>
            </a:r>
            <a:endParaRPr/>
          </a:p>
        </p:txBody>
      </p:sp>
      <p:sp>
        <p:nvSpPr>
          <p:cNvPr id="1041" name="Google Shape;1041;p111"/>
          <p:cNvSpPr txBox="1"/>
          <p:nvPr>
            <p:ph idx="1" type="subTitle"/>
          </p:nvPr>
        </p:nvSpPr>
        <p:spPr>
          <a:xfrm>
            <a:off x="2244150" y="1569025"/>
            <a:ext cx="4655700" cy="15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Dela Gothic One"/>
                <a:ea typeface="Dela Gothic One"/>
                <a:cs typeface="Dela Gothic One"/>
                <a:sym typeface="Dela Gothic One"/>
              </a:rPr>
              <a:t>por vuestra atención</a:t>
            </a:r>
            <a:endParaRPr sz="2800"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ted Nations Day Minitheme by Slidesgo">
  <a:themeElements>
    <a:clrScheme name="Simple Light">
      <a:dk1>
        <a:srgbClr val="FFFFFF"/>
      </a:dk1>
      <a:lt1>
        <a:srgbClr val="144E9D"/>
      </a:lt1>
      <a:dk2>
        <a:srgbClr val="3AC6F0"/>
      </a:dk2>
      <a:lt2>
        <a:srgbClr val="1A6549"/>
      </a:lt2>
      <a:accent1>
        <a:srgbClr val="5CE8A7"/>
      </a:accent1>
      <a:accent2>
        <a:srgbClr val="584517"/>
      </a:accent2>
      <a:accent3>
        <a:srgbClr val="CAC1A7"/>
      </a:accent3>
      <a:accent4>
        <a:srgbClr val="FFFFFF"/>
      </a:accent4>
      <a:accent5>
        <a:srgbClr val="FFFFFF"/>
      </a:accent5>
      <a:accent6>
        <a:srgbClr val="FFFFFF"/>
      </a:accent6>
      <a:hlink>
        <a:srgbClr val="144E9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